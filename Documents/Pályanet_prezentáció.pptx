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handoutMasterIdLst>
    <p:handoutMasterId r:id="rId19"/>
  </p:handoutMasterIdLst>
  <p:sldIdLst>
    <p:sldId id="256" r:id="rId2"/>
    <p:sldId id="275" r:id="rId3"/>
    <p:sldId id="276" r:id="rId4"/>
    <p:sldId id="277" r:id="rId5"/>
    <p:sldId id="278" r:id="rId6"/>
    <p:sldId id="279" r:id="rId7"/>
    <p:sldId id="280" r:id="rId8"/>
    <p:sldId id="281" r:id="rId9"/>
    <p:sldId id="282" r:id="rId10"/>
    <p:sldId id="265" r:id="rId11"/>
    <p:sldId id="283" r:id="rId12"/>
    <p:sldId id="284" r:id="rId13"/>
    <p:sldId id="270" r:id="rId14"/>
    <p:sldId id="271" r:id="rId15"/>
    <p:sldId id="272" r:id="rId16"/>
    <p:sldId id="273" r:id="rId17"/>
    <p:sldId id="285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21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8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912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ACFEE5C-28D9-F828-9453-B4FD58D3896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A0AD3B-8657-5FBE-E1F0-CDCDAA5151C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15223A-8E3B-4FED-88EE-C4489BBEE8CD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91A67C-58F2-D172-1E72-6045F707661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F1B572-DBD3-40FD-A7D1-35A233DD288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D416A7-4EB6-4B6E-B741-15E760CDB1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6141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60A0F-B810-EBEF-8DFF-29AC19C032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AC602C-D84E-53BF-26CE-7855317457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62270D-08A2-3B1D-8881-B96066A675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5510D-B21A-4D69-BAE3-D3B3C23B5A89}" type="datetimeFigureOut">
              <a:rPr lang="hu-HU" smtClean="0"/>
              <a:t>2026. 04. 16.</a:t>
            </a:fld>
            <a:endParaRPr lang="hu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054DCD-A364-9637-98C1-92B4071FDF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FB36AA-2894-3D8F-B1A3-8797B03A2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3EADC-E6C1-48CE-9673-ADC0DB5F66A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2999455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E65066-0CD2-8E77-B553-DA805AEE8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D138F0-407A-C51D-1CC3-BFE58B3290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F811C5-6E53-8C7C-A0A4-7EFC88873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5510D-B21A-4D69-BAE3-D3B3C23B5A89}" type="datetimeFigureOut">
              <a:rPr lang="hu-HU" smtClean="0"/>
              <a:t>2026. 04. 16.</a:t>
            </a:fld>
            <a:endParaRPr lang="hu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560277-E89F-05A0-F4BC-93EC678043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BF540A-2A79-FACF-61EC-E576CC7B2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3EADC-E6C1-48CE-9673-ADC0DB5F66A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9303296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0A944-D330-5532-0C3E-0DF776E118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04FD62-6B6F-69C0-DDF9-B60A0C5F76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02CBB8-4E9B-26A3-AFEF-788D908741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5510D-B21A-4D69-BAE3-D3B3C23B5A89}" type="datetimeFigureOut">
              <a:rPr lang="hu-HU" smtClean="0"/>
              <a:t>2026. 04. 16.</a:t>
            </a:fld>
            <a:endParaRPr lang="hu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CEEA1A-597B-E0BB-0326-6927E4F79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C46B9B-8EFD-1647-B3C2-4923179B7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3EADC-E6C1-48CE-9673-ADC0DB5F66A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6362557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4C4CCF-0960-0E25-1CA2-D48F6FACB9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55676B-67E5-F877-1AC3-A8831E8656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A08949-39AA-C722-DF0D-42F83C26AB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BEF305-FA39-8709-32B0-B0FEE181C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5510D-B21A-4D69-BAE3-D3B3C23B5A89}" type="datetimeFigureOut">
              <a:rPr lang="hu-HU" smtClean="0"/>
              <a:t>2026. 04. 16.</a:t>
            </a:fld>
            <a:endParaRPr lang="hu-H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CE2FC6-7913-FEBA-8436-D12099C30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7A9B85-C151-7C38-30EE-8E793332E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3EADC-E6C1-48CE-9673-ADC0DB5F66A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0278980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2EDFD-9DAB-8684-67ED-14DF62CB85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011FFC-7247-EA7F-CABD-2469CD0E49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7AAA81-3C1B-E2AA-BBFD-BA92D9A222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225032-7728-DE98-115E-0D2C1A4C2A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438167-82C1-E6AC-0BDF-45DA84265E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10682EA-F1C3-03CB-5DDD-94D184985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5510D-B21A-4D69-BAE3-D3B3C23B5A89}" type="datetimeFigureOut">
              <a:rPr lang="hu-HU" smtClean="0"/>
              <a:t>2026. 04. 16.</a:t>
            </a:fld>
            <a:endParaRPr lang="hu-H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14D513-7792-B110-303C-E424D70E88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B45908C-DCE5-1072-79E3-B3937758B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3EADC-E6C1-48CE-9673-ADC0DB5F66A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9168086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BCE5D-9A72-6B5B-5616-AC373DC82C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66A767-9F42-1AA5-EBF5-C9A6C390E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5510D-B21A-4D69-BAE3-D3B3C23B5A89}" type="datetimeFigureOut">
              <a:rPr lang="hu-HU" smtClean="0"/>
              <a:t>2026. 04. 16.</a:t>
            </a:fld>
            <a:endParaRPr lang="hu-H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62751F-6229-1396-611F-7B63DD9BEF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51CAB4-B181-F8F5-4628-E1BFC4120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3EADC-E6C1-48CE-9673-ADC0DB5F66A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2508283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A678F14-723A-088B-F7F0-8218BD0736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5510D-B21A-4D69-BAE3-D3B3C23B5A89}" type="datetimeFigureOut">
              <a:rPr lang="hu-HU" smtClean="0"/>
              <a:t>2026. 04. 16.</a:t>
            </a:fld>
            <a:endParaRPr lang="hu-H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261F151-8CFF-A16C-8AC5-D532D14771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F5810F-DBCA-CD52-FB2F-BEE82ED31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3EADC-E6C1-48CE-9673-ADC0DB5F66A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5043461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C609FD-4D2C-7ACD-B4A6-8CD68DE80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109A28-0AD3-DBA2-C6C0-471403D531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E95811-F1D1-3FE1-C035-B3D7E85236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FB0B57-F721-6699-7820-DC9FADCA1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5510D-B21A-4D69-BAE3-D3B3C23B5A89}" type="datetimeFigureOut">
              <a:rPr lang="hu-HU" smtClean="0"/>
              <a:t>2026. 04. 16.</a:t>
            </a:fld>
            <a:endParaRPr lang="hu-H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29C8BC-B85F-E65A-D4E5-F675C1FC2C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6710FF-EF76-19C2-35BD-6BEDE0F38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3EADC-E6C1-48CE-9673-ADC0DB5F66A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5305811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674B92-FAAD-04FE-0AFE-B85225642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22E888A-8691-0574-11E3-00CCE29593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37C758-0E72-B80F-3C48-3F384CC339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61C290-F6AD-A299-09C9-5D147FFD2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5510D-B21A-4D69-BAE3-D3B3C23B5A89}" type="datetimeFigureOut">
              <a:rPr lang="hu-HU" smtClean="0"/>
              <a:t>2026. 04. 16.</a:t>
            </a:fld>
            <a:endParaRPr lang="hu-H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5DB06B-3A71-C0A9-EF6A-032BC1C39C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E1297D-AE45-D278-A51C-21D09E9C9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3EADC-E6C1-48CE-9673-ADC0DB5F66A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4397316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5E17C2-CC36-9A75-418E-E20F94E714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3CDED9-663E-8351-1F29-E2807D4994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A12990-C784-5A38-B461-DCF740436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5510D-B21A-4D69-BAE3-D3B3C23B5A89}" type="datetimeFigureOut">
              <a:rPr lang="hu-HU" smtClean="0"/>
              <a:t>2026. 04. 16.</a:t>
            </a:fld>
            <a:endParaRPr lang="hu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B09AD0-0EFF-2CDF-57F3-F7DAD2E16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A90B75-A0CF-CA00-525A-2AE6D3848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3EADC-E6C1-48CE-9673-ADC0DB5F66A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673056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B625909-FA9B-177B-D317-F6BE91559A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AEA533-0174-E843-A552-2B5E8F01D2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7BABAC-4438-2316-40BF-A4348B18B3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5510D-B21A-4D69-BAE3-D3B3C23B5A89}" type="datetimeFigureOut">
              <a:rPr lang="hu-HU" smtClean="0"/>
              <a:t>2026. 04. 16.</a:t>
            </a:fld>
            <a:endParaRPr lang="hu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AE7AFE-496C-CFB2-8FFD-305133FA94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5423F9-9180-6EF3-A3AB-EC81F556D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3EADC-E6C1-48CE-9673-ADC0DB5F66A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981497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724E9FD-37F5-6A57-1FB3-78E1AAA711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C0F920-3708-8A11-EE88-D0B8FAC665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D60465-D0E2-49A9-D86E-FADE0EAAB6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65510D-B21A-4D69-BAE3-D3B3C23B5A89}" type="datetimeFigureOut">
              <a:rPr lang="hu-HU" smtClean="0"/>
              <a:t>2026. 04. 16.</a:t>
            </a:fld>
            <a:endParaRPr lang="hu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50D2D0-24BD-C02A-2E6B-FE44FF4907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8A135A-BC49-EFAD-9233-7E128F7E61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A63EADC-E6C1-48CE-9673-ADC0DB5F66AD}" type="slidenum">
              <a:rPr lang="hu-HU" smtClean="0"/>
              <a:t>‹#›</a:t>
            </a:fld>
            <a:endParaRPr lang="hu-HU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92DAE60-8E4A-2BFD-59F3-B1DD16891852}"/>
              </a:ext>
            </a:extLst>
          </p:cNvPr>
          <p:cNvSpPr/>
          <p:nvPr userDrawn="1"/>
        </p:nvSpPr>
        <p:spPr>
          <a:xfrm>
            <a:off x="11861320" y="-345057"/>
            <a:ext cx="854016" cy="7241876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1053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A78B20A-6BDA-4854-8E57-C3F72A4ECC7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Pályanet</a:t>
            </a:r>
            <a:endParaRPr lang="hu-HU" b="1" dirty="0"/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B8D16117-0A16-46D5-972A-A40377669BD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u-HU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Készitette</a:t>
            </a:r>
            <a:r>
              <a:rPr lang="hu-HU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</a:t>
            </a:r>
          </a:p>
          <a:p>
            <a:r>
              <a:rPr lang="hu-HU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Demsa Levente, Tóth Kornél</a:t>
            </a:r>
          </a:p>
        </p:txBody>
      </p:sp>
      <p:pic>
        <p:nvPicPr>
          <p:cNvPr id="4" name="Content Placeholder 7">
            <a:extLst>
              <a:ext uri="{FF2B5EF4-FFF2-40B4-BE49-F238E27FC236}">
                <a16:creationId xmlns:a16="http://schemas.microsoft.com/office/drawing/2014/main" id="{024B1F27-D4B3-C150-B451-6867C0845E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1118" y="4094288"/>
            <a:ext cx="1607971" cy="1607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1750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4C0FA2-E542-8AF1-E957-74684FCD12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Pályanet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BE4413-0226-45DA-BE95-A015C6B917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solidFill>
                  <a:schemeClr val="accent2"/>
                </a:solidFill>
              </a:rPr>
              <a:t>Egyszerű </a:t>
            </a:r>
            <a:r>
              <a:rPr lang="en-US" dirty="0" err="1">
                <a:solidFill>
                  <a:schemeClr val="accent2"/>
                </a:solidFill>
              </a:rPr>
              <a:t>pályafoglalás</a:t>
            </a:r>
            <a:endParaRPr lang="en-US" dirty="0">
              <a:solidFill>
                <a:schemeClr val="accent2"/>
              </a:solidFill>
            </a:endParaRPr>
          </a:p>
          <a:p>
            <a:r>
              <a:rPr lang="en-US" dirty="0" err="1">
                <a:solidFill>
                  <a:schemeClr val="accent2"/>
                </a:solidFill>
              </a:rPr>
              <a:t>mindenkinek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2D1A3C2-E4A2-B488-0C95-E3C95258D7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 lnSpcReduction="10000"/>
          </a:bodyPr>
          <a:lstStyle/>
          <a:p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621B51A5-FA24-ED48-352D-13A94850AF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3181592"/>
            <a:ext cx="5157787" cy="116577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 err="1">
                <a:solidFill>
                  <a:srgbClr val="203040"/>
                </a:solidFill>
              </a:rPr>
              <a:t>Sportpályák</a:t>
            </a:r>
            <a:r>
              <a:rPr lang="en-US" sz="1800" dirty="0">
                <a:solidFill>
                  <a:srgbClr val="203040"/>
                </a:solidFill>
              </a:rPr>
              <a:t> </a:t>
            </a:r>
            <a:r>
              <a:rPr lang="en-US" sz="1800" dirty="0" err="1">
                <a:solidFill>
                  <a:srgbClr val="203040"/>
                </a:solidFill>
              </a:rPr>
              <a:t>gyors</a:t>
            </a:r>
            <a:r>
              <a:rPr lang="en-US" sz="1800" dirty="0">
                <a:solidFill>
                  <a:srgbClr val="203040"/>
                </a:solidFill>
              </a:rPr>
              <a:t> </a:t>
            </a:r>
            <a:r>
              <a:rPr lang="en-US" sz="1800" dirty="0" err="1">
                <a:solidFill>
                  <a:srgbClr val="203040"/>
                </a:solidFill>
              </a:rPr>
              <a:t>keresése</a:t>
            </a:r>
            <a:r>
              <a:rPr lang="en-US" sz="1800" dirty="0">
                <a:solidFill>
                  <a:srgbClr val="203040"/>
                </a:solidFill>
              </a:rPr>
              <a:t>, </a:t>
            </a:r>
            <a:r>
              <a:rPr lang="en-US" sz="1800" dirty="0" err="1">
                <a:solidFill>
                  <a:srgbClr val="203040"/>
                </a:solidFill>
              </a:rPr>
              <a:t>egyszerű</a:t>
            </a:r>
            <a:r>
              <a:rPr lang="en-US" sz="1800" dirty="0">
                <a:solidFill>
                  <a:srgbClr val="203040"/>
                </a:solidFill>
              </a:rPr>
              <a:t> </a:t>
            </a:r>
            <a:r>
              <a:rPr lang="en-US" sz="1800" dirty="0" err="1">
                <a:solidFill>
                  <a:srgbClr val="203040"/>
                </a:solidFill>
              </a:rPr>
              <a:t>foglalás</a:t>
            </a:r>
            <a:r>
              <a:rPr lang="en-US" sz="1800" dirty="0">
                <a:solidFill>
                  <a:srgbClr val="203040"/>
                </a:solidFill>
              </a:rPr>
              <a:t> </a:t>
            </a:r>
            <a:r>
              <a:rPr lang="en-US" sz="1800" dirty="0" err="1">
                <a:solidFill>
                  <a:srgbClr val="203040"/>
                </a:solidFill>
              </a:rPr>
              <a:t>és</a:t>
            </a:r>
            <a:r>
              <a:rPr lang="en-US" sz="1800" dirty="0">
                <a:solidFill>
                  <a:srgbClr val="203040"/>
                </a:solidFill>
              </a:rPr>
              <a:t> </a:t>
            </a:r>
            <a:r>
              <a:rPr lang="en-US" sz="1800" dirty="0" err="1">
                <a:solidFill>
                  <a:srgbClr val="203040"/>
                </a:solidFill>
              </a:rPr>
              <a:t>átlátható</a:t>
            </a:r>
            <a:r>
              <a:rPr lang="en-US" sz="1800" dirty="0">
                <a:solidFill>
                  <a:srgbClr val="203040"/>
                </a:solidFill>
              </a:rPr>
              <a:t> </a:t>
            </a:r>
            <a:r>
              <a:rPr lang="en-US" sz="1800" dirty="0" err="1">
                <a:solidFill>
                  <a:srgbClr val="203040"/>
                </a:solidFill>
              </a:rPr>
              <a:t>kezelés</a:t>
            </a:r>
            <a:r>
              <a:rPr lang="en-US" sz="1800" dirty="0">
                <a:solidFill>
                  <a:srgbClr val="203040"/>
                </a:solidFill>
              </a:rPr>
              <a:t> </a:t>
            </a:r>
            <a:r>
              <a:rPr lang="en-US" sz="1800" dirty="0" err="1">
                <a:solidFill>
                  <a:srgbClr val="203040"/>
                </a:solidFill>
              </a:rPr>
              <a:t>egy</a:t>
            </a:r>
            <a:r>
              <a:rPr lang="en-US" sz="1800" dirty="0">
                <a:solidFill>
                  <a:srgbClr val="203040"/>
                </a:solidFill>
              </a:rPr>
              <a:t> </a:t>
            </a:r>
            <a:r>
              <a:rPr lang="en-US" sz="1800" dirty="0" err="1">
                <a:solidFill>
                  <a:srgbClr val="203040"/>
                </a:solidFill>
              </a:rPr>
              <a:t>országosan</a:t>
            </a:r>
            <a:r>
              <a:rPr lang="en-US" sz="1800" dirty="0">
                <a:solidFill>
                  <a:srgbClr val="203040"/>
                </a:solidFill>
              </a:rPr>
              <a:t> </a:t>
            </a:r>
            <a:r>
              <a:rPr lang="en-US" sz="1800" dirty="0" err="1">
                <a:solidFill>
                  <a:srgbClr val="203040"/>
                </a:solidFill>
              </a:rPr>
              <a:t>bővíthető</a:t>
            </a:r>
            <a:r>
              <a:rPr lang="en-US" sz="1800" dirty="0">
                <a:solidFill>
                  <a:srgbClr val="203040"/>
                </a:solidFill>
              </a:rPr>
              <a:t> </a:t>
            </a:r>
            <a:r>
              <a:rPr lang="en-US" sz="1800" dirty="0" err="1">
                <a:solidFill>
                  <a:srgbClr val="203040"/>
                </a:solidFill>
              </a:rPr>
              <a:t>rendszerben</a:t>
            </a:r>
            <a:r>
              <a:rPr lang="en-US" sz="1800" dirty="0">
                <a:solidFill>
                  <a:srgbClr val="203040"/>
                </a:solidFill>
              </a:rPr>
              <a:t>.</a:t>
            </a:r>
            <a:endParaRPr lang="en-US" sz="1800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1" name="Content Placeholder 7">
            <a:extLst>
              <a:ext uri="{FF2B5EF4-FFF2-40B4-BE49-F238E27FC236}">
                <a16:creationId xmlns:a16="http://schemas.microsoft.com/office/drawing/2014/main" id="{BF05249B-FC41-F503-B721-1F798395071A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8373" y="1213644"/>
            <a:ext cx="4430712" cy="4430712"/>
          </a:xfrm>
          <a:prstGeom prst="rect">
            <a:avLst/>
          </a:prstGeom>
        </p:spPr>
      </p:pic>
      <p:sp>
        <p:nvSpPr>
          <p:cNvPr id="32" name="Shape 8">
            <a:extLst>
              <a:ext uri="{FF2B5EF4-FFF2-40B4-BE49-F238E27FC236}">
                <a16:creationId xmlns:a16="http://schemas.microsoft.com/office/drawing/2014/main" id="{D57CCD5D-BE97-3E8B-A340-7CA521293B38}"/>
              </a:ext>
            </a:extLst>
          </p:cNvPr>
          <p:cNvSpPr/>
          <p:nvPr/>
        </p:nvSpPr>
        <p:spPr>
          <a:xfrm>
            <a:off x="839788" y="4676414"/>
            <a:ext cx="1508760" cy="347472"/>
          </a:xfrm>
          <a:prstGeom prst="roundRect">
            <a:avLst>
              <a:gd name="adj" fmla="val 47368"/>
            </a:avLst>
          </a:prstGeom>
          <a:solidFill>
            <a:srgbClr val="11C5BF"/>
          </a:solidFill>
          <a:ln w="12700">
            <a:solidFill>
              <a:srgbClr val="11C5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9">
            <a:extLst>
              <a:ext uri="{FF2B5EF4-FFF2-40B4-BE49-F238E27FC236}">
                <a16:creationId xmlns:a16="http://schemas.microsoft.com/office/drawing/2014/main" id="{16739D14-726A-B15E-8F40-44E08417C205}"/>
              </a:ext>
            </a:extLst>
          </p:cNvPr>
          <p:cNvSpPr/>
          <p:nvPr/>
        </p:nvSpPr>
        <p:spPr>
          <a:xfrm>
            <a:off x="839788" y="4740422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Keresés</a:t>
            </a:r>
            <a:endParaRPr lang="en-US" sz="1200" dirty="0"/>
          </a:p>
        </p:txBody>
      </p:sp>
      <p:sp>
        <p:nvSpPr>
          <p:cNvPr id="34" name="Shape 10">
            <a:extLst>
              <a:ext uri="{FF2B5EF4-FFF2-40B4-BE49-F238E27FC236}">
                <a16:creationId xmlns:a16="http://schemas.microsoft.com/office/drawing/2014/main" id="{173F8823-3C98-3FDA-6B30-067460971F4E}"/>
              </a:ext>
            </a:extLst>
          </p:cNvPr>
          <p:cNvSpPr/>
          <p:nvPr/>
        </p:nvSpPr>
        <p:spPr>
          <a:xfrm>
            <a:off x="2485708" y="4676414"/>
            <a:ext cx="1508760" cy="347472"/>
          </a:xfrm>
          <a:prstGeom prst="roundRect">
            <a:avLst>
              <a:gd name="adj" fmla="val 47368"/>
            </a:avLst>
          </a:prstGeom>
          <a:solidFill>
            <a:srgbClr val="37B26C"/>
          </a:solidFill>
          <a:ln w="12700">
            <a:solidFill>
              <a:srgbClr val="37B26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11">
            <a:extLst>
              <a:ext uri="{FF2B5EF4-FFF2-40B4-BE49-F238E27FC236}">
                <a16:creationId xmlns:a16="http://schemas.microsoft.com/office/drawing/2014/main" id="{17E00013-7270-9688-9869-44358F360080}"/>
              </a:ext>
            </a:extLst>
          </p:cNvPr>
          <p:cNvSpPr/>
          <p:nvPr/>
        </p:nvSpPr>
        <p:spPr>
          <a:xfrm>
            <a:off x="2485708" y="4740422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Foglalás</a:t>
            </a:r>
            <a:endParaRPr lang="en-US" sz="1200" dirty="0"/>
          </a:p>
        </p:txBody>
      </p:sp>
      <p:sp>
        <p:nvSpPr>
          <p:cNvPr id="36" name="Shape 12">
            <a:extLst>
              <a:ext uri="{FF2B5EF4-FFF2-40B4-BE49-F238E27FC236}">
                <a16:creationId xmlns:a16="http://schemas.microsoft.com/office/drawing/2014/main" id="{9C9E618F-56A1-DDD4-8394-97C6DCE01906}"/>
              </a:ext>
            </a:extLst>
          </p:cNvPr>
          <p:cNvSpPr/>
          <p:nvPr/>
        </p:nvSpPr>
        <p:spPr>
          <a:xfrm>
            <a:off x="4131628" y="4676414"/>
            <a:ext cx="1783080" cy="347472"/>
          </a:xfrm>
          <a:prstGeom prst="roundRect">
            <a:avLst>
              <a:gd name="adj" fmla="val 47368"/>
            </a:avLst>
          </a:prstGeom>
          <a:solidFill>
            <a:srgbClr val="3F7CFF"/>
          </a:solidFill>
          <a:ln w="12700">
            <a:solidFill>
              <a:srgbClr val="3F7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13">
            <a:extLst>
              <a:ext uri="{FF2B5EF4-FFF2-40B4-BE49-F238E27FC236}">
                <a16:creationId xmlns:a16="http://schemas.microsoft.com/office/drawing/2014/main" id="{755EAB37-F43A-BE86-F439-DE92E48203F5}"/>
              </a:ext>
            </a:extLst>
          </p:cNvPr>
          <p:cNvSpPr/>
          <p:nvPr/>
        </p:nvSpPr>
        <p:spPr>
          <a:xfrm>
            <a:off x="4131628" y="4740422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Kezelés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625858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6DA8B3-FA93-EECA-A29B-B1001E7CBF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5256212" cy="1600200"/>
          </a:xfrm>
        </p:spPr>
        <p:txBody>
          <a:bodyPr/>
          <a:lstStyle/>
          <a:p>
            <a:r>
              <a:rPr lang="en-US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</a:t>
            </a:r>
            <a:r>
              <a:rPr lang="en-US" b="1" dirty="0" err="1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probléma</a:t>
            </a:r>
            <a:r>
              <a:rPr lang="en-US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b="1" dirty="0" err="1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és</a:t>
            </a:r>
            <a:r>
              <a:rPr lang="en-US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a </a:t>
            </a:r>
            <a:r>
              <a:rPr lang="en-US" b="1" dirty="0" err="1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megoldás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572311-1AF6-9B20-4647-128FF015D9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88100" y="2057400"/>
            <a:ext cx="5068888" cy="48736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A </a:t>
            </a:r>
            <a:r>
              <a:rPr lang="en-US" b="1" dirty="0" err="1"/>
              <a:t>Pályanet</a:t>
            </a:r>
            <a:r>
              <a:rPr lang="en-US" b="1" dirty="0"/>
              <a:t> </a:t>
            </a:r>
            <a:r>
              <a:rPr lang="en-US" b="1" dirty="0" err="1"/>
              <a:t>megoldása</a:t>
            </a:r>
            <a:endParaRPr lang="en-US" b="1" dirty="0"/>
          </a:p>
          <a:p>
            <a:pPr>
              <a:buClr>
                <a:schemeClr val="accent2"/>
              </a:buClr>
            </a:pPr>
            <a:r>
              <a:rPr lang="en-US" sz="1900" dirty="0"/>
              <a:t>Online platform </a:t>
            </a:r>
            <a:r>
              <a:rPr lang="en-US" sz="1900" dirty="0" err="1"/>
              <a:t>sportpályák</a:t>
            </a:r>
            <a:r>
              <a:rPr lang="en-US" sz="1900" dirty="0"/>
              <a:t> </a:t>
            </a:r>
            <a:r>
              <a:rPr lang="en-US" sz="1900" dirty="0" err="1"/>
              <a:t>keresésére</a:t>
            </a:r>
            <a:r>
              <a:rPr lang="en-US" sz="1900" dirty="0"/>
              <a:t> </a:t>
            </a:r>
            <a:r>
              <a:rPr lang="en-US" sz="1900" dirty="0" err="1"/>
              <a:t>és</a:t>
            </a:r>
            <a:r>
              <a:rPr lang="en-US" sz="1900" dirty="0"/>
              <a:t> </a:t>
            </a:r>
            <a:r>
              <a:rPr lang="en-US" sz="1900" dirty="0" err="1"/>
              <a:t>foglalására</a:t>
            </a:r>
            <a:endParaRPr lang="en-US" sz="1900" dirty="0"/>
          </a:p>
          <a:p>
            <a:pPr>
              <a:buClr>
                <a:schemeClr val="accent2"/>
              </a:buClr>
            </a:pPr>
            <a:r>
              <a:rPr lang="en-US" sz="1900" dirty="0" err="1"/>
              <a:t>Gyorsan</a:t>
            </a:r>
            <a:r>
              <a:rPr lang="en-US" sz="1900" dirty="0"/>
              <a:t> </a:t>
            </a:r>
            <a:r>
              <a:rPr lang="en-US" sz="1900" dirty="0" err="1"/>
              <a:t>megtalálható</a:t>
            </a:r>
            <a:r>
              <a:rPr lang="en-US" sz="1900" dirty="0"/>
              <a:t> a </a:t>
            </a:r>
            <a:r>
              <a:rPr lang="en-US" sz="1900" dirty="0" err="1"/>
              <a:t>megfelelő</a:t>
            </a:r>
            <a:r>
              <a:rPr lang="en-US" sz="1900" dirty="0"/>
              <a:t> </a:t>
            </a:r>
            <a:r>
              <a:rPr lang="en-US" sz="1900" dirty="0" err="1"/>
              <a:t>pálya</a:t>
            </a:r>
            <a:r>
              <a:rPr lang="en-US" sz="1900" dirty="0"/>
              <a:t> </a:t>
            </a:r>
            <a:r>
              <a:rPr lang="en-US" sz="1900" dirty="0" err="1"/>
              <a:t>és</a:t>
            </a:r>
            <a:r>
              <a:rPr lang="en-US" sz="1900" dirty="0"/>
              <a:t> </a:t>
            </a:r>
            <a:r>
              <a:rPr lang="en-US" sz="1900" dirty="0" err="1"/>
              <a:t>időpont</a:t>
            </a:r>
            <a:endParaRPr lang="en-US" sz="1900" dirty="0"/>
          </a:p>
          <a:p>
            <a:pPr>
              <a:buClr>
                <a:schemeClr val="accent2"/>
              </a:buClr>
            </a:pPr>
            <a:r>
              <a:rPr lang="hu-HU" sz="1900" dirty="0"/>
              <a:t>Egyszerű, átlátható időpontfoglalás</a:t>
            </a:r>
          </a:p>
          <a:p>
            <a:pPr>
              <a:buClr>
                <a:schemeClr val="accent2"/>
              </a:buClr>
            </a:pPr>
            <a:r>
              <a:rPr lang="en-US" sz="1900" dirty="0" err="1"/>
              <a:t>Könnyebb</a:t>
            </a:r>
            <a:r>
              <a:rPr lang="en-US" sz="1900" dirty="0"/>
              <a:t> </a:t>
            </a:r>
            <a:r>
              <a:rPr lang="en-US" sz="1900" dirty="0" err="1"/>
              <a:t>foglaláskezelés</a:t>
            </a:r>
            <a:r>
              <a:rPr lang="en-US" sz="1900" dirty="0"/>
              <a:t> a </a:t>
            </a:r>
            <a:r>
              <a:rPr lang="en-US" sz="1900" dirty="0" err="1"/>
              <a:t>tulajdonosoknak</a:t>
            </a:r>
            <a:endParaRPr lang="en-US" sz="1900" dirty="0"/>
          </a:p>
          <a:p>
            <a:pPr>
              <a:buClr>
                <a:schemeClr val="accent2"/>
              </a:buClr>
            </a:pPr>
            <a:r>
              <a:rPr lang="en-US" sz="1900" dirty="0" err="1"/>
              <a:t>Több</a:t>
            </a:r>
            <a:r>
              <a:rPr lang="en-US" sz="1900" dirty="0"/>
              <a:t> </a:t>
            </a:r>
            <a:r>
              <a:rPr lang="en-US" sz="1900" dirty="0" err="1"/>
              <a:t>helyszínen</a:t>
            </a:r>
            <a:r>
              <a:rPr lang="en-US" sz="1900" dirty="0"/>
              <a:t>, </a:t>
            </a:r>
            <a:r>
              <a:rPr lang="en-US" sz="1900" dirty="0" err="1"/>
              <a:t>országos</a:t>
            </a:r>
            <a:r>
              <a:rPr lang="en-US" sz="1900" dirty="0"/>
              <a:t> </a:t>
            </a:r>
            <a:r>
              <a:rPr lang="en-US" sz="1900" dirty="0" err="1"/>
              <a:t>szinten</a:t>
            </a:r>
            <a:r>
              <a:rPr lang="en-US" sz="1900" dirty="0"/>
              <a:t> is </a:t>
            </a:r>
            <a:r>
              <a:rPr lang="en-US" sz="1900" dirty="0" err="1"/>
              <a:t>bővíthető</a:t>
            </a:r>
            <a:endParaRPr lang="en-US" sz="1900" dirty="0"/>
          </a:p>
          <a:p>
            <a:pPr marL="0" indent="0">
              <a:buNone/>
            </a:pPr>
            <a:endParaRPr lang="en-US" b="1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E35E67-3A06-039A-AF2E-958DB6782542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dirty="0" err="1"/>
              <a:t>foglalási</a:t>
            </a:r>
            <a:r>
              <a:rPr lang="en-US" dirty="0"/>
              <a:t> </a:t>
            </a:r>
            <a:r>
              <a:rPr lang="en-US" dirty="0" err="1"/>
              <a:t>folyamat</a:t>
            </a:r>
            <a:r>
              <a:rPr lang="en-US" dirty="0"/>
              <a:t> </a:t>
            </a:r>
            <a:r>
              <a:rPr lang="en-US" dirty="0" err="1"/>
              <a:t>széttagolt</a:t>
            </a:r>
            <a:r>
              <a:rPr lang="en-US" dirty="0"/>
              <a:t>, </a:t>
            </a:r>
            <a:r>
              <a:rPr lang="en-US" dirty="0" err="1"/>
              <a:t>lassú</a:t>
            </a:r>
            <a:r>
              <a:rPr lang="en-US" dirty="0"/>
              <a:t> </a:t>
            </a:r>
            <a:r>
              <a:rPr lang="en-US" dirty="0" err="1"/>
              <a:t>és</a:t>
            </a:r>
            <a:r>
              <a:rPr lang="en-US" dirty="0"/>
              <a:t> </a:t>
            </a:r>
            <a:r>
              <a:rPr lang="en-US" dirty="0" err="1"/>
              <a:t>nehezen</a:t>
            </a:r>
            <a:r>
              <a:rPr lang="en-US" dirty="0"/>
              <a:t> </a:t>
            </a:r>
            <a:r>
              <a:rPr lang="en-US" dirty="0" err="1"/>
              <a:t>átlátható</a:t>
            </a:r>
            <a:r>
              <a:rPr lang="en-US" dirty="0"/>
              <a:t> a </a:t>
            </a:r>
            <a:r>
              <a:rPr lang="en-US" dirty="0" err="1"/>
              <a:t>játékosok</a:t>
            </a:r>
            <a:r>
              <a:rPr lang="en-US" dirty="0"/>
              <a:t> </a:t>
            </a:r>
            <a:r>
              <a:rPr lang="en-US" dirty="0" err="1"/>
              <a:t>és</a:t>
            </a:r>
            <a:r>
              <a:rPr lang="en-US" dirty="0"/>
              <a:t> a </a:t>
            </a:r>
            <a:r>
              <a:rPr lang="en-US" dirty="0" err="1"/>
              <a:t>pályatulajdonosok</a:t>
            </a:r>
            <a:r>
              <a:rPr lang="en-US" dirty="0"/>
              <a:t> </a:t>
            </a:r>
            <a:r>
              <a:rPr lang="en-US" dirty="0" err="1"/>
              <a:t>számára</a:t>
            </a:r>
            <a:r>
              <a:rPr lang="en-US" dirty="0"/>
              <a:t>.</a:t>
            </a:r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057F00D2-F316-E67B-E310-64AABA86E4DF}"/>
              </a:ext>
            </a:extLst>
          </p:cNvPr>
          <p:cNvSpPr/>
          <p:nvPr/>
        </p:nvSpPr>
        <p:spPr>
          <a:xfrm>
            <a:off x="836612" y="2876603"/>
            <a:ext cx="3364992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655C23AF-A6DB-0AAD-D697-84215C67B501}"/>
              </a:ext>
            </a:extLst>
          </p:cNvPr>
          <p:cNvSpPr/>
          <p:nvPr/>
        </p:nvSpPr>
        <p:spPr>
          <a:xfrm>
            <a:off x="836612" y="5392389"/>
            <a:ext cx="3364992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DF052BCE-92EA-F0D6-BD4D-3298CB4B99D6}"/>
              </a:ext>
            </a:extLst>
          </p:cNvPr>
          <p:cNvSpPr/>
          <p:nvPr/>
        </p:nvSpPr>
        <p:spPr>
          <a:xfrm>
            <a:off x="836612" y="4134496"/>
            <a:ext cx="3364992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F3C2D3E-F1D3-EA74-F2F0-E9F4FC07D26E}"/>
              </a:ext>
            </a:extLst>
          </p:cNvPr>
          <p:cNvSpPr/>
          <p:nvPr/>
        </p:nvSpPr>
        <p:spPr>
          <a:xfrm>
            <a:off x="950026" y="3004457"/>
            <a:ext cx="166255" cy="950026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1CDE917-93B3-A7B8-5709-D74B42F10E88}"/>
              </a:ext>
            </a:extLst>
          </p:cNvPr>
          <p:cNvSpPr/>
          <p:nvPr/>
        </p:nvSpPr>
        <p:spPr>
          <a:xfrm>
            <a:off x="950026" y="4259283"/>
            <a:ext cx="166255" cy="950026"/>
          </a:xfrm>
          <a:prstGeom prst="rect">
            <a:avLst/>
          </a:prstGeom>
          <a:solidFill>
            <a:schemeClr val="tx2"/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245DBC9-3FA6-8BA1-B441-7DD3B10AD1F4}"/>
              </a:ext>
            </a:extLst>
          </p:cNvPr>
          <p:cNvSpPr/>
          <p:nvPr/>
        </p:nvSpPr>
        <p:spPr>
          <a:xfrm>
            <a:off x="950026" y="5502734"/>
            <a:ext cx="166255" cy="95002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363BE66-BCDB-6BA3-48EA-B97080ECF376}"/>
              </a:ext>
            </a:extLst>
          </p:cNvPr>
          <p:cNvSpPr txBox="1"/>
          <p:nvPr/>
        </p:nvSpPr>
        <p:spPr>
          <a:xfrm>
            <a:off x="1116280" y="3004457"/>
            <a:ext cx="30853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B1F33"/>
                </a:solidFill>
              </a:rPr>
              <a:t>Szabad </a:t>
            </a:r>
            <a:r>
              <a:rPr lang="en-US" sz="1800" b="1" dirty="0" err="1">
                <a:solidFill>
                  <a:srgbClr val="0B1F33"/>
                </a:solidFill>
              </a:rPr>
              <a:t>időpontok</a:t>
            </a:r>
            <a:r>
              <a:rPr lang="en-US" sz="1800" b="1" dirty="0">
                <a:solidFill>
                  <a:srgbClr val="0B1F33"/>
                </a:solidFill>
              </a:rPr>
              <a:t> </a:t>
            </a:r>
            <a:r>
              <a:rPr lang="en-US" sz="1800" b="1" dirty="0" err="1">
                <a:solidFill>
                  <a:srgbClr val="0B1F33"/>
                </a:solidFill>
              </a:rPr>
              <a:t>keresése</a:t>
            </a:r>
            <a:endParaRPr lang="en-US" sz="18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8BBE1D5-9E2D-6CC5-7CE5-6046102BBE25}"/>
              </a:ext>
            </a:extLst>
          </p:cNvPr>
          <p:cNvSpPr txBox="1"/>
          <p:nvPr/>
        </p:nvSpPr>
        <p:spPr>
          <a:xfrm>
            <a:off x="1116280" y="3373789"/>
            <a:ext cx="308532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200" dirty="0" err="1">
                <a:solidFill>
                  <a:srgbClr val="203040"/>
                </a:solidFill>
              </a:rPr>
              <a:t>Nehézkes</a:t>
            </a:r>
            <a:r>
              <a:rPr lang="en-US" sz="1200" dirty="0">
                <a:solidFill>
                  <a:srgbClr val="203040"/>
                </a:solidFill>
              </a:rPr>
              <a:t> </a:t>
            </a:r>
            <a:r>
              <a:rPr lang="en-US" sz="1200" dirty="0" err="1">
                <a:solidFill>
                  <a:srgbClr val="203040"/>
                </a:solidFill>
              </a:rPr>
              <a:t>megtalálni</a:t>
            </a:r>
            <a:r>
              <a:rPr lang="en-US" sz="1200" dirty="0">
                <a:solidFill>
                  <a:srgbClr val="203040"/>
                </a:solidFill>
              </a:rPr>
              <a:t> a </a:t>
            </a:r>
            <a:r>
              <a:rPr lang="en-US" sz="1200" dirty="0" err="1">
                <a:solidFill>
                  <a:srgbClr val="203040"/>
                </a:solidFill>
              </a:rPr>
              <a:t>megfelelő</a:t>
            </a:r>
            <a:r>
              <a:rPr lang="en-US" sz="1200" dirty="0">
                <a:solidFill>
                  <a:srgbClr val="203040"/>
                </a:solidFill>
              </a:rPr>
              <a:t> </a:t>
            </a:r>
            <a:r>
              <a:rPr lang="en-US" sz="1200" dirty="0" err="1">
                <a:solidFill>
                  <a:srgbClr val="203040"/>
                </a:solidFill>
              </a:rPr>
              <a:t>helyszínt</a:t>
            </a:r>
            <a:r>
              <a:rPr lang="en-US" sz="1200" dirty="0">
                <a:solidFill>
                  <a:srgbClr val="203040"/>
                </a:solidFill>
              </a:rPr>
              <a:t> </a:t>
            </a:r>
            <a:r>
              <a:rPr lang="en-US" sz="1200" dirty="0" err="1">
                <a:solidFill>
                  <a:srgbClr val="203040"/>
                </a:solidFill>
              </a:rPr>
              <a:t>és</a:t>
            </a:r>
            <a:r>
              <a:rPr lang="en-US" sz="1200" dirty="0">
                <a:solidFill>
                  <a:srgbClr val="203040"/>
                </a:solidFill>
              </a:rPr>
              <a:t> </a:t>
            </a:r>
            <a:r>
              <a:rPr lang="en-US" sz="1200" dirty="0" err="1">
                <a:solidFill>
                  <a:srgbClr val="203040"/>
                </a:solidFill>
              </a:rPr>
              <a:t>az</a:t>
            </a:r>
            <a:r>
              <a:rPr lang="en-US" sz="1200" dirty="0">
                <a:solidFill>
                  <a:srgbClr val="203040"/>
                </a:solidFill>
              </a:rPr>
              <a:t> </a:t>
            </a:r>
            <a:r>
              <a:rPr lang="en-US" sz="1200" dirty="0" err="1">
                <a:solidFill>
                  <a:srgbClr val="203040"/>
                </a:solidFill>
              </a:rPr>
              <a:t>elérhető</a:t>
            </a:r>
            <a:r>
              <a:rPr lang="en-US" sz="1200" dirty="0">
                <a:solidFill>
                  <a:srgbClr val="203040"/>
                </a:solidFill>
              </a:rPr>
              <a:t> </a:t>
            </a:r>
            <a:r>
              <a:rPr lang="en-US" sz="1200" dirty="0" err="1">
                <a:solidFill>
                  <a:srgbClr val="203040"/>
                </a:solidFill>
              </a:rPr>
              <a:t>időpontokat</a:t>
            </a:r>
            <a:r>
              <a:rPr lang="en-US" sz="1200" dirty="0">
                <a:solidFill>
                  <a:srgbClr val="203040"/>
                </a:solidFill>
              </a:rPr>
              <a:t>.</a:t>
            </a:r>
            <a:endParaRPr lang="en-US" sz="12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96B4019-8045-D9AC-7447-1070D3C89B2D}"/>
              </a:ext>
            </a:extLst>
          </p:cNvPr>
          <p:cNvSpPr txBox="1"/>
          <p:nvPr/>
        </p:nvSpPr>
        <p:spPr>
          <a:xfrm>
            <a:off x="1116281" y="4259283"/>
            <a:ext cx="30853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 err="1">
                <a:solidFill>
                  <a:srgbClr val="0B1F33"/>
                </a:solidFill>
              </a:rPr>
              <a:t>Bonyolult</a:t>
            </a:r>
            <a:r>
              <a:rPr lang="en-US" sz="1800" b="1" dirty="0">
                <a:solidFill>
                  <a:srgbClr val="0B1F33"/>
                </a:solidFill>
              </a:rPr>
              <a:t> </a:t>
            </a:r>
            <a:r>
              <a:rPr lang="en-US" sz="1800" b="1" dirty="0" err="1">
                <a:solidFill>
                  <a:srgbClr val="0B1F33"/>
                </a:solidFill>
              </a:rPr>
              <a:t>kezelés</a:t>
            </a:r>
            <a:endParaRPr lang="en-US" sz="18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D05420C-A647-8E8E-EC0A-42A38548C2FF}"/>
              </a:ext>
            </a:extLst>
          </p:cNvPr>
          <p:cNvSpPr txBox="1"/>
          <p:nvPr/>
        </p:nvSpPr>
        <p:spPr>
          <a:xfrm>
            <a:off x="1116280" y="4606584"/>
            <a:ext cx="301747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03040"/>
                </a:solidFill>
              </a:rPr>
              <a:t>A </a:t>
            </a:r>
            <a:r>
              <a:rPr lang="en-US" sz="1200" dirty="0" err="1">
                <a:solidFill>
                  <a:srgbClr val="203040"/>
                </a:solidFill>
              </a:rPr>
              <a:t>tulajdonosoknak</a:t>
            </a:r>
            <a:r>
              <a:rPr lang="en-US" sz="1200" dirty="0">
                <a:solidFill>
                  <a:srgbClr val="203040"/>
                </a:solidFill>
              </a:rPr>
              <a:t> </a:t>
            </a:r>
            <a:r>
              <a:rPr lang="en-US" sz="1200" dirty="0" err="1">
                <a:solidFill>
                  <a:srgbClr val="203040"/>
                </a:solidFill>
              </a:rPr>
              <a:t>sok</a:t>
            </a:r>
            <a:r>
              <a:rPr lang="en-US" sz="1200" dirty="0">
                <a:solidFill>
                  <a:srgbClr val="203040"/>
                </a:solidFill>
              </a:rPr>
              <a:t> </a:t>
            </a:r>
            <a:r>
              <a:rPr lang="en-US" sz="1200" dirty="0" err="1">
                <a:solidFill>
                  <a:srgbClr val="203040"/>
                </a:solidFill>
              </a:rPr>
              <a:t>manuális</a:t>
            </a:r>
            <a:r>
              <a:rPr lang="en-US" sz="1200" dirty="0">
                <a:solidFill>
                  <a:srgbClr val="203040"/>
                </a:solidFill>
              </a:rPr>
              <a:t> </a:t>
            </a:r>
            <a:r>
              <a:rPr lang="en-US" sz="1200" dirty="0" err="1">
                <a:solidFill>
                  <a:srgbClr val="203040"/>
                </a:solidFill>
              </a:rPr>
              <a:t>lépésből</a:t>
            </a:r>
            <a:r>
              <a:rPr lang="en-US" sz="1200" dirty="0">
                <a:solidFill>
                  <a:srgbClr val="203040"/>
                </a:solidFill>
              </a:rPr>
              <a:t> </a:t>
            </a:r>
            <a:r>
              <a:rPr lang="en-US" sz="1200" dirty="0" err="1">
                <a:solidFill>
                  <a:srgbClr val="203040"/>
                </a:solidFill>
              </a:rPr>
              <a:t>áll</a:t>
            </a:r>
            <a:r>
              <a:rPr lang="en-US" sz="1200" dirty="0">
                <a:solidFill>
                  <a:srgbClr val="203040"/>
                </a:solidFill>
              </a:rPr>
              <a:t> a </a:t>
            </a:r>
            <a:r>
              <a:rPr lang="en-US" sz="1200" dirty="0" err="1">
                <a:solidFill>
                  <a:srgbClr val="203040"/>
                </a:solidFill>
              </a:rPr>
              <a:t>foglalások</a:t>
            </a:r>
            <a:r>
              <a:rPr lang="en-US" sz="1200" dirty="0">
                <a:solidFill>
                  <a:srgbClr val="203040"/>
                </a:solidFill>
              </a:rPr>
              <a:t> </a:t>
            </a:r>
            <a:r>
              <a:rPr lang="en-US" sz="1200" dirty="0" err="1">
                <a:solidFill>
                  <a:srgbClr val="203040"/>
                </a:solidFill>
              </a:rPr>
              <a:t>nyomon</a:t>
            </a:r>
            <a:r>
              <a:rPr lang="en-US" sz="1200" dirty="0">
                <a:solidFill>
                  <a:srgbClr val="203040"/>
                </a:solidFill>
              </a:rPr>
              <a:t> </a:t>
            </a:r>
            <a:r>
              <a:rPr lang="en-US" sz="1200" dirty="0" err="1">
                <a:solidFill>
                  <a:srgbClr val="203040"/>
                </a:solidFill>
              </a:rPr>
              <a:t>követése</a:t>
            </a:r>
            <a:r>
              <a:rPr lang="en-US" sz="1200" dirty="0">
                <a:solidFill>
                  <a:srgbClr val="203040"/>
                </a:solidFill>
              </a:rPr>
              <a:t>.</a:t>
            </a:r>
            <a:endParaRPr lang="en-US" sz="12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F4A1D06-36F6-D816-6BDE-6CE7005442A0}"/>
              </a:ext>
            </a:extLst>
          </p:cNvPr>
          <p:cNvSpPr txBox="1"/>
          <p:nvPr/>
        </p:nvSpPr>
        <p:spPr>
          <a:xfrm>
            <a:off x="1116280" y="5502734"/>
            <a:ext cx="30853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 err="1">
                <a:solidFill>
                  <a:srgbClr val="0B1F33"/>
                </a:solidFill>
              </a:rPr>
              <a:t>Nincs</a:t>
            </a:r>
            <a:r>
              <a:rPr lang="en-US" sz="1800" b="1" dirty="0">
                <a:solidFill>
                  <a:srgbClr val="0B1F33"/>
                </a:solidFill>
              </a:rPr>
              <a:t> </a:t>
            </a:r>
            <a:r>
              <a:rPr lang="en-US" sz="1800" b="1" dirty="0" err="1">
                <a:solidFill>
                  <a:srgbClr val="0B1F33"/>
                </a:solidFill>
              </a:rPr>
              <a:t>egységes</a:t>
            </a:r>
            <a:r>
              <a:rPr lang="en-US" sz="1800" b="1" dirty="0">
                <a:solidFill>
                  <a:srgbClr val="0B1F33"/>
                </a:solidFill>
              </a:rPr>
              <a:t> </a:t>
            </a:r>
            <a:r>
              <a:rPr lang="en-US" sz="1800" b="1" dirty="0" err="1">
                <a:solidFill>
                  <a:srgbClr val="0B1F33"/>
                </a:solidFill>
              </a:rPr>
              <a:t>felület</a:t>
            </a:r>
            <a:endParaRPr lang="en-US" sz="18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5B7DC80-F9AF-0129-FC73-9917CC01142E}"/>
              </a:ext>
            </a:extLst>
          </p:cNvPr>
          <p:cNvSpPr txBox="1"/>
          <p:nvPr/>
        </p:nvSpPr>
        <p:spPr>
          <a:xfrm>
            <a:off x="1120363" y="5868988"/>
            <a:ext cx="30812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03040"/>
                </a:solidFill>
              </a:rPr>
              <a:t>A </a:t>
            </a:r>
            <a:r>
              <a:rPr lang="en-US" sz="1200" dirty="0" err="1">
                <a:solidFill>
                  <a:srgbClr val="203040"/>
                </a:solidFill>
              </a:rPr>
              <a:t>keresés</a:t>
            </a:r>
            <a:r>
              <a:rPr lang="en-US" sz="1200" dirty="0">
                <a:solidFill>
                  <a:srgbClr val="203040"/>
                </a:solidFill>
              </a:rPr>
              <a:t>, </a:t>
            </a:r>
            <a:r>
              <a:rPr lang="en-US" sz="1200" dirty="0" err="1">
                <a:solidFill>
                  <a:srgbClr val="203040"/>
                </a:solidFill>
              </a:rPr>
              <a:t>foglalás</a:t>
            </a:r>
            <a:r>
              <a:rPr lang="en-US" sz="1200" dirty="0">
                <a:solidFill>
                  <a:srgbClr val="203040"/>
                </a:solidFill>
              </a:rPr>
              <a:t> </a:t>
            </a:r>
            <a:r>
              <a:rPr lang="en-US" sz="1200" dirty="0" err="1">
                <a:solidFill>
                  <a:srgbClr val="203040"/>
                </a:solidFill>
              </a:rPr>
              <a:t>és</a:t>
            </a:r>
            <a:r>
              <a:rPr lang="en-US" sz="1200" dirty="0">
                <a:solidFill>
                  <a:srgbClr val="203040"/>
                </a:solidFill>
              </a:rPr>
              <a:t> </a:t>
            </a:r>
            <a:r>
              <a:rPr lang="en-US" sz="1200" dirty="0" err="1">
                <a:solidFill>
                  <a:srgbClr val="203040"/>
                </a:solidFill>
              </a:rPr>
              <a:t>kommunikáció</a:t>
            </a:r>
            <a:r>
              <a:rPr lang="en-US" sz="1200" dirty="0">
                <a:solidFill>
                  <a:srgbClr val="203040"/>
                </a:solidFill>
              </a:rPr>
              <a:t> </a:t>
            </a:r>
            <a:r>
              <a:rPr lang="en-US" sz="1200" dirty="0" err="1">
                <a:solidFill>
                  <a:srgbClr val="203040"/>
                </a:solidFill>
              </a:rPr>
              <a:t>nem</a:t>
            </a:r>
            <a:r>
              <a:rPr lang="en-US" sz="1200" dirty="0">
                <a:solidFill>
                  <a:srgbClr val="203040"/>
                </a:solidFill>
              </a:rPr>
              <a:t> </a:t>
            </a:r>
            <a:r>
              <a:rPr lang="en-US" sz="1200" dirty="0" err="1">
                <a:solidFill>
                  <a:srgbClr val="203040"/>
                </a:solidFill>
              </a:rPr>
              <a:t>egyetlen</a:t>
            </a:r>
            <a:r>
              <a:rPr lang="en-US" sz="1200" dirty="0">
                <a:solidFill>
                  <a:srgbClr val="203040"/>
                </a:solidFill>
              </a:rPr>
              <a:t> </a:t>
            </a:r>
            <a:r>
              <a:rPr lang="en-US" sz="1200" dirty="0" err="1">
                <a:solidFill>
                  <a:srgbClr val="203040"/>
                </a:solidFill>
              </a:rPr>
              <a:t>rendszerben</a:t>
            </a:r>
            <a:r>
              <a:rPr lang="en-US" sz="1200" dirty="0">
                <a:solidFill>
                  <a:srgbClr val="203040"/>
                </a:solidFill>
              </a:rPr>
              <a:t> </a:t>
            </a:r>
            <a:r>
              <a:rPr lang="en-US" sz="1200" dirty="0" err="1">
                <a:solidFill>
                  <a:srgbClr val="203040"/>
                </a:solidFill>
              </a:rPr>
              <a:t>történik</a:t>
            </a:r>
            <a:r>
              <a:rPr lang="en-US" sz="1200" dirty="0">
                <a:solidFill>
                  <a:srgbClr val="203040"/>
                </a:solidFill>
              </a:rPr>
              <a:t>.</a:t>
            </a:r>
            <a:endParaRPr lang="en-US" sz="1200" dirty="0"/>
          </a:p>
        </p:txBody>
      </p:sp>
      <p:sp>
        <p:nvSpPr>
          <p:cNvPr id="24" name="Arrow: Chevron 23">
            <a:extLst>
              <a:ext uri="{FF2B5EF4-FFF2-40B4-BE49-F238E27FC236}">
                <a16:creationId xmlns:a16="http://schemas.microsoft.com/office/drawing/2014/main" id="{5482E209-4F20-482B-CFF3-87C5AD670667}"/>
              </a:ext>
            </a:extLst>
          </p:cNvPr>
          <p:cNvSpPr/>
          <p:nvPr/>
        </p:nvSpPr>
        <p:spPr>
          <a:xfrm>
            <a:off x="4688966" y="2677789"/>
            <a:ext cx="1358900" cy="1492896"/>
          </a:xfrm>
          <a:prstGeom prst="chevron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4028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6DAE1A-447C-1790-82F5-108152BD03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Fő</a:t>
            </a:r>
            <a:r>
              <a:rPr lang="en-US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b="1" dirty="0" err="1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funkciók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C3A277-A909-6BAA-7B46-99BAB05C62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7" name="Shape 3">
            <a:extLst>
              <a:ext uri="{FF2B5EF4-FFF2-40B4-BE49-F238E27FC236}">
                <a16:creationId xmlns:a16="http://schemas.microsoft.com/office/drawing/2014/main" id="{F99B8BE3-21CE-2BEE-7852-15583E316C36}"/>
              </a:ext>
            </a:extLst>
          </p:cNvPr>
          <p:cNvSpPr/>
          <p:nvPr/>
        </p:nvSpPr>
        <p:spPr>
          <a:xfrm>
            <a:off x="838200" y="1825625"/>
            <a:ext cx="2944368" cy="1536192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905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b="1"/>
          </a:p>
        </p:txBody>
      </p:sp>
      <p:sp>
        <p:nvSpPr>
          <p:cNvPr id="38" name="Shape 4">
            <a:extLst>
              <a:ext uri="{FF2B5EF4-FFF2-40B4-BE49-F238E27FC236}">
                <a16:creationId xmlns:a16="http://schemas.microsoft.com/office/drawing/2014/main" id="{F2185BE8-5C04-D96E-8773-4DFE6DF6C1B7}"/>
              </a:ext>
            </a:extLst>
          </p:cNvPr>
          <p:cNvSpPr/>
          <p:nvPr/>
        </p:nvSpPr>
        <p:spPr>
          <a:xfrm>
            <a:off x="1002792" y="2026793"/>
            <a:ext cx="512064" cy="51206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r>
              <a:rPr lang="en-US" sz="1600" b="1" dirty="0">
                <a:solidFill>
                  <a:schemeClr val="bg1"/>
                </a:solidFill>
              </a:rPr>
              <a:t>1.</a:t>
            </a:r>
          </a:p>
        </p:txBody>
      </p:sp>
      <p:sp>
        <p:nvSpPr>
          <p:cNvPr id="39" name="Text 5">
            <a:extLst>
              <a:ext uri="{FF2B5EF4-FFF2-40B4-BE49-F238E27FC236}">
                <a16:creationId xmlns:a16="http://schemas.microsoft.com/office/drawing/2014/main" id="{E690447E-A995-B6C3-B6C8-167853F54E2B}"/>
              </a:ext>
            </a:extLst>
          </p:cNvPr>
          <p:cNvSpPr/>
          <p:nvPr/>
        </p:nvSpPr>
        <p:spPr>
          <a:xfrm>
            <a:off x="1679448" y="2035937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B1F33"/>
                </a:solidFill>
              </a:rPr>
              <a:t>Regisztráció és</a:t>
            </a:r>
            <a:endParaRPr lang="en-US" sz="1800" b="1" dirty="0"/>
          </a:p>
          <a:p>
            <a:pPr marL="0" indent="0" algn="l">
              <a:buNone/>
            </a:pPr>
            <a:r>
              <a:rPr lang="en-US" sz="1800" b="1" dirty="0">
                <a:solidFill>
                  <a:srgbClr val="0B1F33"/>
                </a:solidFill>
              </a:rPr>
              <a:t>bejelentkezés</a:t>
            </a:r>
            <a:endParaRPr lang="en-US" sz="1800" b="1" dirty="0"/>
          </a:p>
        </p:txBody>
      </p:sp>
      <p:sp>
        <p:nvSpPr>
          <p:cNvPr id="40" name="Text 6">
            <a:extLst>
              <a:ext uri="{FF2B5EF4-FFF2-40B4-BE49-F238E27FC236}">
                <a16:creationId xmlns:a16="http://schemas.microsoft.com/office/drawing/2014/main" id="{B880C590-794D-A0E8-EA81-AE8AEB5D6726}"/>
              </a:ext>
            </a:extLst>
          </p:cNvPr>
          <p:cNvSpPr/>
          <p:nvPr/>
        </p:nvSpPr>
        <p:spPr>
          <a:xfrm>
            <a:off x="1021080" y="2794889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 err="1">
                <a:solidFill>
                  <a:srgbClr val="64748B"/>
                </a:solidFill>
              </a:rPr>
              <a:t>Gyors</a:t>
            </a:r>
            <a:r>
              <a:rPr lang="en-US" sz="1150" b="1" dirty="0">
                <a:solidFill>
                  <a:srgbClr val="64748B"/>
                </a:solidFill>
              </a:rPr>
              <a:t> </a:t>
            </a:r>
            <a:r>
              <a:rPr lang="en-US" sz="1150" b="1" dirty="0" err="1">
                <a:solidFill>
                  <a:srgbClr val="64748B"/>
                </a:solidFill>
              </a:rPr>
              <a:t>és</a:t>
            </a:r>
            <a:r>
              <a:rPr lang="en-US" sz="1150" b="1" dirty="0">
                <a:solidFill>
                  <a:srgbClr val="64748B"/>
                </a:solidFill>
              </a:rPr>
              <a:t> </a:t>
            </a:r>
            <a:r>
              <a:rPr lang="en-US" sz="1150" b="1" dirty="0" err="1">
                <a:solidFill>
                  <a:srgbClr val="64748B"/>
                </a:solidFill>
              </a:rPr>
              <a:t>biztonsaágos</a:t>
            </a:r>
            <a:r>
              <a:rPr lang="en-US" sz="1150" b="1" dirty="0">
                <a:solidFill>
                  <a:srgbClr val="64748B"/>
                </a:solidFill>
              </a:rPr>
              <a:t> </a:t>
            </a:r>
            <a:r>
              <a:rPr lang="en-US" sz="1150" b="1" dirty="0" err="1">
                <a:solidFill>
                  <a:srgbClr val="64748B"/>
                </a:solidFill>
              </a:rPr>
              <a:t>hozzáférés</a:t>
            </a:r>
            <a:r>
              <a:rPr lang="en-US" sz="1150" b="1" dirty="0">
                <a:solidFill>
                  <a:srgbClr val="64748B"/>
                </a:solidFill>
              </a:rPr>
              <a:t> a </a:t>
            </a:r>
            <a:r>
              <a:rPr lang="en-US" sz="1150" b="1" dirty="0" err="1">
                <a:solidFill>
                  <a:srgbClr val="64748B"/>
                </a:solidFill>
              </a:rPr>
              <a:t>rendszerhez</a:t>
            </a:r>
            <a:r>
              <a:rPr lang="en-US" sz="1150" b="1" dirty="0">
                <a:solidFill>
                  <a:srgbClr val="64748B"/>
                </a:solidFill>
              </a:rPr>
              <a:t>.</a:t>
            </a:r>
            <a:endParaRPr lang="en-US" sz="1150" b="1" dirty="0"/>
          </a:p>
        </p:txBody>
      </p:sp>
      <p:sp>
        <p:nvSpPr>
          <p:cNvPr id="41" name="Shape 3">
            <a:extLst>
              <a:ext uri="{FF2B5EF4-FFF2-40B4-BE49-F238E27FC236}">
                <a16:creationId xmlns:a16="http://schemas.microsoft.com/office/drawing/2014/main" id="{13387B99-0B66-BCBB-F3D3-7AB5E54016D4}"/>
              </a:ext>
            </a:extLst>
          </p:cNvPr>
          <p:cNvSpPr/>
          <p:nvPr/>
        </p:nvSpPr>
        <p:spPr>
          <a:xfrm>
            <a:off x="4623816" y="1825625"/>
            <a:ext cx="2944368" cy="1536192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905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b="1"/>
          </a:p>
        </p:txBody>
      </p:sp>
      <p:sp>
        <p:nvSpPr>
          <p:cNvPr id="42" name="Shape 4">
            <a:extLst>
              <a:ext uri="{FF2B5EF4-FFF2-40B4-BE49-F238E27FC236}">
                <a16:creationId xmlns:a16="http://schemas.microsoft.com/office/drawing/2014/main" id="{CAB558C8-92AE-5A6C-ADF0-2CB98DFB2260}"/>
              </a:ext>
            </a:extLst>
          </p:cNvPr>
          <p:cNvSpPr/>
          <p:nvPr/>
        </p:nvSpPr>
        <p:spPr>
          <a:xfrm>
            <a:off x="4860036" y="2026793"/>
            <a:ext cx="512064" cy="51206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r>
              <a:rPr lang="en-US" sz="1600" b="1" dirty="0">
                <a:solidFill>
                  <a:schemeClr val="bg1"/>
                </a:solidFill>
              </a:rPr>
              <a:t>2.</a:t>
            </a:r>
            <a:endParaRPr lang="en-US" sz="1600" b="1" dirty="0"/>
          </a:p>
        </p:txBody>
      </p:sp>
      <p:sp>
        <p:nvSpPr>
          <p:cNvPr id="43" name="Text 5">
            <a:extLst>
              <a:ext uri="{FF2B5EF4-FFF2-40B4-BE49-F238E27FC236}">
                <a16:creationId xmlns:a16="http://schemas.microsoft.com/office/drawing/2014/main" id="{0F93F41D-7AC1-6271-8F7E-F69051B8FF15}"/>
              </a:ext>
            </a:extLst>
          </p:cNvPr>
          <p:cNvSpPr/>
          <p:nvPr/>
        </p:nvSpPr>
        <p:spPr>
          <a:xfrm>
            <a:off x="5536692" y="2035937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 err="1">
                <a:solidFill>
                  <a:srgbClr val="0B1F33"/>
                </a:solidFill>
              </a:rPr>
              <a:t>Keresés</a:t>
            </a:r>
            <a:r>
              <a:rPr lang="en-US" b="1" dirty="0">
                <a:solidFill>
                  <a:srgbClr val="0B1F33"/>
                </a:solidFill>
              </a:rPr>
              <a:t> </a:t>
            </a:r>
            <a:r>
              <a:rPr lang="en-US" b="1" dirty="0" err="1">
                <a:solidFill>
                  <a:srgbClr val="0B1F33"/>
                </a:solidFill>
              </a:rPr>
              <a:t>és</a:t>
            </a:r>
            <a:endParaRPr lang="en-US" dirty="0"/>
          </a:p>
          <a:p>
            <a:r>
              <a:rPr lang="en-US" b="1" dirty="0" err="1">
                <a:solidFill>
                  <a:srgbClr val="0B1F33"/>
                </a:solidFill>
              </a:rPr>
              <a:t>szűrés</a:t>
            </a:r>
            <a:endParaRPr lang="en-US" dirty="0"/>
          </a:p>
        </p:txBody>
      </p:sp>
      <p:sp>
        <p:nvSpPr>
          <p:cNvPr id="44" name="Text 6">
            <a:extLst>
              <a:ext uri="{FF2B5EF4-FFF2-40B4-BE49-F238E27FC236}">
                <a16:creationId xmlns:a16="http://schemas.microsoft.com/office/drawing/2014/main" id="{D02080E0-4ABC-BE95-4412-725F9058064D}"/>
              </a:ext>
            </a:extLst>
          </p:cNvPr>
          <p:cNvSpPr/>
          <p:nvPr/>
        </p:nvSpPr>
        <p:spPr>
          <a:xfrm>
            <a:off x="4878324" y="2794889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 err="1">
                <a:solidFill>
                  <a:srgbClr val="64748B"/>
                </a:solidFill>
              </a:rPr>
              <a:t>Pályák</a:t>
            </a:r>
            <a:r>
              <a:rPr lang="en-US" sz="1150" b="1" dirty="0">
                <a:solidFill>
                  <a:srgbClr val="64748B"/>
                </a:solidFill>
              </a:rPr>
              <a:t> </a:t>
            </a:r>
            <a:r>
              <a:rPr lang="en-US" sz="1150" b="1" dirty="0" err="1">
                <a:solidFill>
                  <a:srgbClr val="64748B"/>
                </a:solidFill>
              </a:rPr>
              <a:t>keresése</a:t>
            </a:r>
            <a:r>
              <a:rPr lang="en-US" sz="1150" b="1" dirty="0">
                <a:solidFill>
                  <a:srgbClr val="64748B"/>
                </a:solidFill>
              </a:rPr>
              <a:t> </a:t>
            </a:r>
            <a:r>
              <a:rPr lang="en-US" sz="1150" b="1" dirty="0" err="1">
                <a:solidFill>
                  <a:srgbClr val="64748B"/>
                </a:solidFill>
              </a:rPr>
              <a:t>helyszín</a:t>
            </a:r>
            <a:r>
              <a:rPr lang="en-US" sz="1150" b="1" dirty="0">
                <a:solidFill>
                  <a:srgbClr val="64748B"/>
                </a:solidFill>
              </a:rPr>
              <a:t>, </a:t>
            </a:r>
            <a:r>
              <a:rPr lang="en-US" sz="1150" b="1" dirty="0" err="1">
                <a:solidFill>
                  <a:srgbClr val="64748B"/>
                </a:solidFill>
              </a:rPr>
              <a:t>típus</a:t>
            </a:r>
            <a:r>
              <a:rPr lang="en-US" sz="1150" b="1" dirty="0">
                <a:solidFill>
                  <a:srgbClr val="64748B"/>
                </a:solidFill>
              </a:rPr>
              <a:t> </a:t>
            </a:r>
            <a:r>
              <a:rPr lang="en-US" sz="1150" b="1" dirty="0" err="1">
                <a:solidFill>
                  <a:srgbClr val="64748B"/>
                </a:solidFill>
              </a:rPr>
              <a:t>és</a:t>
            </a:r>
            <a:r>
              <a:rPr lang="en-US" sz="1150" b="1" dirty="0">
                <a:solidFill>
                  <a:srgbClr val="64748B"/>
                </a:solidFill>
              </a:rPr>
              <a:t> </a:t>
            </a:r>
            <a:r>
              <a:rPr lang="en-US" sz="1150" b="1" dirty="0" err="1">
                <a:solidFill>
                  <a:srgbClr val="64748B"/>
                </a:solidFill>
              </a:rPr>
              <a:t>időpont</a:t>
            </a:r>
            <a:r>
              <a:rPr lang="en-US" sz="1150" b="1" dirty="0">
                <a:solidFill>
                  <a:srgbClr val="64748B"/>
                </a:solidFill>
              </a:rPr>
              <a:t> </a:t>
            </a:r>
            <a:r>
              <a:rPr lang="en-US" sz="1150" b="1" dirty="0" err="1">
                <a:solidFill>
                  <a:srgbClr val="64748B"/>
                </a:solidFill>
              </a:rPr>
              <a:t>alapján</a:t>
            </a:r>
            <a:r>
              <a:rPr lang="en-US" sz="1150" b="1" dirty="0">
                <a:solidFill>
                  <a:srgbClr val="64748B"/>
                </a:solidFill>
              </a:rPr>
              <a:t>.</a:t>
            </a:r>
            <a:endParaRPr lang="en-US" sz="1150" b="1" dirty="0"/>
          </a:p>
        </p:txBody>
      </p:sp>
      <p:sp>
        <p:nvSpPr>
          <p:cNvPr id="45" name="Shape 3">
            <a:extLst>
              <a:ext uri="{FF2B5EF4-FFF2-40B4-BE49-F238E27FC236}">
                <a16:creationId xmlns:a16="http://schemas.microsoft.com/office/drawing/2014/main" id="{511778A7-ACAC-C73C-D7F3-B9B37460CD24}"/>
              </a:ext>
            </a:extLst>
          </p:cNvPr>
          <p:cNvSpPr/>
          <p:nvPr/>
        </p:nvSpPr>
        <p:spPr>
          <a:xfrm>
            <a:off x="8409432" y="1825625"/>
            <a:ext cx="2944368" cy="1536192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905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b="1"/>
          </a:p>
        </p:txBody>
      </p:sp>
      <p:sp>
        <p:nvSpPr>
          <p:cNvPr id="46" name="Shape 4">
            <a:extLst>
              <a:ext uri="{FF2B5EF4-FFF2-40B4-BE49-F238E27FC236}">
                <a16:creationId xmlns:a16="http://schemas.microsoft.com/office/drawing/2014/main" id="{284A85DC-E672-93CE-2408-490FA78761D5}"/>
              </a:ext>
            </a:extLst>
          </p:cNvPr>
          <p:cNvSpPr/>
          <p:nvPr/>
        </p:nvSpPr>
        <p:spPr>
          <a:xfrm>
            <a:off x="8574024" y="2026793"/>
            <a:ext cx="512064" cy="51206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r>
              <a:rPr lang="en-US" sz="1600" b="1" dirty="0">
                <a:solidFill>
                  <a:schemeClr val="bg1"/>
                </a:solidFill>
              </a:rPr>
              <a:t>3.</a:t>
            </a:r>
            <a:endParaRPr lang="en-US" sz="1600" b="1" dirty="0"/>
          </a:p>
        </p:txBody>
      </p:sp>
      <p:sp>
        <p:nvSpPr>
          <p:cNvPr id="47" name="Text 5">
            <a:extLst>
              <a:ext uri="{FF2B5EF4-FFF2-40B4-BE49-F238E27FC236}">
                <a16:creationId xmlns:a16="http://schemas.microsoft.com/office/drawing/2014/main" id="{17DC9B75-9D74-A4BF-EE63-151448133BF5}"/>
              </a:ext>
            </a:extLst>
          </p:cNvPr>
          <p:cNvSpPr/>
          <p:nvPr/>
        </p:nvSpPr>
        <p:spPr>
          <a:xfrm>
            <a:off x="9250680" y="2035937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 err="1">
                <a:solidFill>
                  <a:srgbClr val="0B1F33"/>
                </a:solidFill>
              </a:rPr>
              <a:t>Foglalás</a:t>
            </a:r>
            <a:r>
              <a:rPr lang="en-US" b="1" dirty="0">
                <a:solidFill>
                  <a:srgbClr val="0B1F33"/>
                </a:solidFill>
              </a:rPr>
              <a:t>-</a:t>
            </a:r>
            <a:endParaRPr lang="en-US" dirty="0"/>
          </a:p>
          <a:p>
            <a:r>
              <a:rPr lang="en-US" b="1" dirty="0" err="1">
                <a:solidFill>
                  <a:srgbClr val="0B1F33"/>
                </a:solidFill>
              </a:rPr>
              <a:t>kezelés</a:t>
            </a:r>
            <a:endParaRPr lang="en-US" dirty="0"/>
          </a:p>
        </p:txBody>
      </p:sp>
      <p:sp>
        <p:nvSpPr>
          <p:cNvPr id="48" name="Text 6">
            <a:extLst>
              <a:ext uri="{FF2B5EF4-FFF2-40B4-BE49-F238E27FC236}">
                <a16:creationId xmlns:a16="http://schemas.microsoft.com/office/drawing/2014/main" id="{DBB73108-69F5-F368-08A1-4350DAAD6429}"/>
              </a:ext>
            </a:extLst>
          </p:cNvPr>
          <p:cNvSpPr/>
          <p:nvPr/>
        </p:nvSpPr>
        <p:spPr>
          <a:xfrm>
            <a:off x="8592312" y="2794889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64748B"/>
                </a:solidFill>
              </a:rPr>
              <a:t>Egyszerű </a:t>
            </a:r>
            <a:r>
              <a:rPr lang="en-US" sz="1150" b="1" dirty="0" err="1">
                <a:solidFill>
                  <a:srgbClr val="64748B"/>
                </a:solidFill>
              </a:rPr>
              <a:t>időpont</a:t>
            </a:r>
            <a:r>
              <a:rPr lang="en-US" sz="1150" b="1" dirty="0">
                <a:solidFill>
                  <a:srgbClr val="64748B"/>
                </a:solidFill>
              </a:rPr>
              <a:t> </a:t>
            </a:r>
            <a:r>
              <a:rPr lang="en-US" sz="1150" b="1" dirty="0" err="1">
                <a:solidFill>
                  <a:srgbClr val="64748B"/>
                </a:solidFill>
              </a:rPr>
              <a:t>foglalás</a:t>
            </a:r>
            <a:r>
              <a:rPr lang="en-US" sz="1150" b="1" dirty="0">
                <a:solidFill>
                  <a:srgbClr val="64748B"/>
                </a:solidFill>
              </a:rPr>
              <a:t> </a:t>
            </a:r>
            <a:r>
              <a:rPr lang="en-US" sz="1150" b="1" dirty="0" err="1">
                <a:solidFill>
                  <a:srgbClr val="64748B"/>
                </a:solidFill>
              </a:rPr>
              <a:t>és</a:t>
            </a:r>
            <a:r>
              <a:rPr lang="en-US" sz="1150" b="1" dirty="0">
                <a:solidFill>
                  <a:srgbClr val="64748B"/>
                </a:solidFill>
              </a:rPr>
              <a:t> </a:t>
            </a:r>
            <a:r>
              <a:rPr lang="en-US" sz="1150" b="1" dirty="0" err="1">
                <a:solidFill>
                  <a:srgbClr val="64748B"/>
                </a:solidFill>
              </a:rPr>
              <a:t>foglalások</a:t>
            </a:r>
            <a:r>
              <a:rPr lang="en-US" sz="1150" b="1" dirty="0">
                <a:solidFill>
                  <a:srgbClr val="64748B"/>
                </a:solidFill>
              </a:rPr>
              <a:t> </a:t>
            </a:r>
            <a:r>
              <a:rPr lang="en-US" sz="1150" b="1" dirty="0" err="1">
                <a:solidFill>
                  <a:srgbClr val="64748B"/>
                </a:solidFill>
              </a:rPr>
              <a:t>áttekintése</a:t>
            </a:r>
            <a:r>
              <a:rPr lang="en-US" sz="1150" b="1" dirty="0">
                <a:solidFill>
                  <a:srgbClr val="64748B"/>
                </a:solidFill>
              </a:rPr>
              <a:t>.</a:t>
            </a:r>
            <a:endParaRPr lang="en-US" sz="1150" b="1" dirty="0"/>
          </a:p>
        </p:txBody>
      </p:sp>
      <p:sp>
        <p:nvSpPr>
          <p:cNvPr id="49" name="Shape 3">
            <a:extLst>
              <a:ext uri="{FF2B5EF4-FFF2-40B4-BE49-F238E27FC236}">
                <a16:creationId xmlns:a16="http://schemas.microsoft.com/office/drawing/2014/main" id="{9FDF932C-24F8-31B9-56ED-6AC5130DBEE5}"/>
              </a:ext>
            </a:extLst>
          </p:cNvPr>
          <p:cNvSpPr/>
          <p:nvPr/>
        </p:nvSpPr>
        <p:spPr>
          <a:xfrm>
            <a:off x="838200" y="3617849"/>
            <a:ext cx="2944368" cy="1536192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905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b="1"/>
          </a:p>
        </p:txBody>
      </p:sp>
      <p:sp>
        <p:nvSpPr>
          <p:cNvPr id="50" name="Shape 4">
            <a:extLst>
              <a:ext uri="{FF2B5EF4-FFF2-40B4-BE49-F238E27FC236}">
                <a16:creationId xmlns:a16="http://schemas.microsoft.com/office/drawing/2014/main" id="{7901B511-7C0F-3856-13FD-466EC43547D4}"/>
              </a:ext>
            </a:extLst>
          </p:cNvPr>
          <p:cNvSpPr/>
          <p:nvPr/>
        </p:nvSpPr>
        <p:spPr>
          <a:xfrm>
            <a:off x="1002792" y="3819017"/>
            <a:ext cx="512064" cy="51206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r>
              <a:rPr lang="en-US" sz="1600" b="1" dirty="0">
                <a:solidFill>
                  <a:schemeClr val="bg1"/>
                </a:solidFill>
              </a:rPr>
              <a:t>4.</a:t>
            </a:r>
            <a:endParaRPr lang="en-US" sz="1600" b="1" dirty="0"/>
          </a:p>
        </p:txBody>
      </p:sp>
      <p:sp>
        <p:nvSpPr>
          <p:cNvPr id="51" name="Text 5">
            <a:extLst>
              <a:ext uri="{FF2B5EF4-FFF2-40B4-BE49-F238E27FC236}">
                <a16:creationId xmlns:a16="http://schemas.microsoft.com/office/drawing/2014/main" id="{2884A1D3-7052-0020-F75F-4A73C51889CE}"/>
              </a:ext>
            </a:extLst>
          </p:cNvPr>
          <p:cNvSpPr/>
          <p:nvPr/>
        </p:nvSpPr>
        <p:spPr>
          <a:xfrm>
            <a:off x="1679448" y="3828161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 err="1">
                <a:solidFill>
                  <a:srgbClr val="0B1F33"/>
                </a:solidFill>
              </a:rPr>
              <a:t>Részletes</a:t>
            </a:r>
            <a:endParaRPr lang="en-US" dirty="0"/>
          </a:p>
          <a:p>
            <a:r>
              <a:rPr lang="en-US" b="1" dirty="0" err="1">
                <a:solidFill>
                  <a:srgbClr val="0B1F33"/>
                </a:solidFill>
              </a:rPr>
              <a:t>pályaadatlapok</a:t>
            </a:r>
            <a:endParaRPr lang="en-US" dirty="0"/>
          </a:p>
        </p:txBody>
      </p:sp>
      <p:sp>
        <p:nvSpPr>
          <p:cNvPr id="52" name="Text 6">
            <a:extLst>
              <a:ext uri="{FF2B5EF4-FFF2-40B4-BE49-F238E27FC236}">
                <a16:creationId xmlns:a16="http://schemas.microsoft.com/office/drawing/2014/main" id="{71B2166E-E587-B1CB-A804-20DFF2CDB5E3}"/>
              </a:ext>
            </a:extLst>
          </p:cNvPr>
          <p:cNvSpPr/>
          <p:nvPr/>
        </p:nvSpPr>
        <p:spPr>
          <a:xfrm>
            <a:off x="1021080" y="4587113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64748B"/>
                </a:solidFill>
              </a:rPr>
              <a:t>Minden </a:t>
            </a:r>
            <a:r>
              <a:rPr lang="en-US" sz="1150" b="1" dirty="0" err="1">
                <a:solidFill>
                  <a:srgbClr val="64748B"/>
                </a:solidFill>
              </a:rPr>
              <a:t>fontos</a:t>
            </a:r>
            <a:r>
              <a:rPr lang="en-US" sz="1150" b="1" dirty="0">
                <a:solidFill>
                  <a:srgbClr val="64748B"/>
                </a:solidFill>
              </a:rPr>
              <a:t> </a:t>
            </a:r>
            <a:r>
              <a:rPr lang="en-US" sz="1150" b="1" dirty="0" err="1">
                <a:solidFill>
                  <a:srgbClr val="64748B"/>
                </a:solidFill>
              </a:rPr>
              <a:t>információ</a:t>
            </a:r>
            <a:r>
              <a:rPr lang="en-US" sz="1150" b="1" dirty="0">
                <a:solidFill>
                  <a:srgbClr val="64748B"/>
                </a:solidFill>
              </a:rPr>
              <a:t> </a:t>
            </a:r>
            <a:r>
              <a:rPr lang="en-US" sz="1150" b="1" dirty="0" err="1">
                <a:solidFill>
                  <a:srgbClr val="64748B"/>
                </a:solidFill>
              </a:rPr>
              <a:t>egy</a:t>
            </a:r>
            <a:r>
              <a:rPr lang="en-US" sz="1150" b="1" dirty="0">
                <a:solidFill>
                  <a:srgbClr val="64748B"/>
                </a:solidFill>
              </a:rPr>
              <a:t> </a:t>
            </a:r>
            <a:r>
              <a:rPr lang="en-US" sz="1150" b="1" dirty="0" err="1">
                <a:solidFill>
                  <a:srgbClr val="64748B"/>
                </a:solidFill>
              </a:rPr>
              <a:t>helyen</a:t>
            </a:r>
            <a:r>
              <a:rPr lang="en-US" sz="1150" b="1" dirty="0">
                <a:solidFill>
                  <a:srgbClr val="64748B"/>
                </a:solidFill>
              </a:rPr>
              <a:t> a </a:t>
            </a:r>
            <a:r>
              <a:rPr lang="en-US" sz="1150" b="1" dirty="0" err="1">
                <a:solidFill>
                  <a:srgbClr val="64748B"/>
                </a:solidFill>
              </a:rPr>
              <a:t>pályákról</a:t>
            </a:r>
            <a:r>
              <a:rPr lang="en-US" sz="1150" b="1" dirty="0">
                <a:solidFill>
                  <a:srgbClr val="64748B"/>
                </a:solidFill>
              </a:rPr>
              <a:t>.</a:t>
            </a:r>
            <a:endParaRPr lang="en-US" sz="1150" b="1" dirty="0"/>
          </a:p>
        </p:txBody>
      </p:sp>
      <p:sp>
        <p:nvSpPr>
          <p:cNvPr id="53" name="Shape 3">
            <a:extLst>
              <a:ext uri="{FF2B5EF4-FFF2-40B4-BE49-F238E27FC236}">
                <a16:creationId xmlns:a16="http://schemas.microsoft.com/office/drawing/2014/main" id="{A545782B-9F6A-123E-FB15-29F05126C187}"/>
              </a:ext>
            </a:extLst>
          </p:cNvPr>
          <p:cNvSpPr/>
          <p:nvPr/>
        </p:nvSpPr>
        <p:spPr>
          <a:xfrm>
            <a:off x="4623816" y="3617849"/>
            <a:ext cx="2944368" cy="1536192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905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b="1"/>
          </a:p>
        </p:txBody>
      </p:sp>
      <p:sp>
        <p:nvSpPr>
          <p:cNvPr id="54" name="Shape 4">
            <a:extLst>
              <a:ext uri="{FF2B5EF4-FFF2-40B4-BE49-F238E27FC236}">
                <a16:creationId xmlns:a16="http://schemas.microsoft.com/office/drawing/2014/main" id="{7D70F554-9D98-CCA0-0964-2A60DD24A000}"/>
              </a:ext>
            </a:extLst>
          </p:cNvPr>
          <p:cNvSpPr/>
          <p:nvPr/>
        </p:nvSpPr>
        <p:spPr>
          <a:xfrm>
            <a:off x="4788408" y="3819017"/>
            <a:ext cx="512064" cy="51206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r>
              <a:rPr lang="en-US" sz="1600" b="1" dirty="0">
                <a:solidFill>
                  <a:schemeClr val="bg1"/>
                </a:solidFill>
              </a:rPr>
              <a:t>5.</a:t>
            </a:r>
          </a:p>
        </p:txBody>
      </p:sp>
      <p:sp>
        <p:nvSpPr>
          <p:cNvPr id="55" name="Text 5">
            <a:extLst>
              <a:ext uri="{FF2B5EF4-FFF2-40B4-BE49-F238E27FC236}">
                <a16:creationId xmlns:a16="http://schemas.microsoft.com/office/drawing/2014/main" id="{AD1C3ACE-FFE7-77C8-423C-FAF8331D2EF4}"/>
              </a:ext>
            </a:extLst>
          </p:cNvPr>
          <p:cNvSpPr/>
          <p:nvPr/>
        </p:nvSpPr>
        <p:spPr>
          <a:xfrm>
            <a:off x="5465064" y="3828161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 err="1">
                <a:solidFill>
                  <a:srgbClr val="0B1F33"/>
                </a:solidFill>
              </a:rPr>
              <a:t>Értesítési</a:t>
            </a:r>
            <a:endParaRPr lang="en-US" dirty="0"/>
          </a:p>
          <a:p>
            <a:r>
              <a:rPr lang="en-US" b="1" dirty="0" err="1">
                <a:solidFill>
                  <a:srgbClr val="0B1F33"/>
                </a:solidFill>
              </a:rPr>
              <a:t>rendszer</a:t>
            </a:r>
            <a:endParaRPr lang="en-US" dirty="0"/>
          </a:p>
        </p:txBody>
      </p:sp>
      <p:sp>
        <p:nvSpPr>
          <p:cNvPr id="56" name="Text 6">
            <a:extLst>
              <a:ext uri="{FF2B5EF4-FFF2-40B4-BE49-F238E27FC236}">
                <a16:creationId xmlns:a16="http://schemas.microsoft.com/office/drawing/2014/main" id="{9977175A-2E4B-A4A6-2AAB-267A3945CFCF}"/>
              </a:ext>
            </a:extLst>
          </p:cNvPr>
          <p:cNvSpPr/>
          <p:nvPr/>
        </p:nvSpPr>
        <p:spPr>
          <a:xfrm>
            <a:off x="4806696" y="4587113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 err="1">
                <a:solidFill>
                  <a:srgbClr val="64748B"/>
                </a:solidFill>
              </a:rPr>
              <a:t>Automatikus</a:t>
            </a:r>
            <a:r>
              <a:rPr lang="en-US" sz="1150" b="1" dirty="0">
                <a:solidFill>
                  <a:srgbClr val="64748B"/>
                </a:solidFill>
              </a:rPr>
              <a:t> </a:t>
            </a:r>
            <a:r>
              <a:rPr lang="en-US" sz="1150" b="1" dirty="0" err="1">
                <a:solidFill>
                  <a:srgbClr val="64748B"/>
                </a:solidFill>
              </a:rPr>
              <a:t>értesítések</a:t>
            </a:r>
            <a:r>
              <a:rPr lang="en-US" sz="1150" b="1" dirty="0">
                <a:solidFill>
                  <a:srgbClr val="64748B"/>
                </a:solidFill>
              </a:rPr>
              <a:t> </a:t>
            </a:r>
            <a:r>
              <a:rPr lang="en-US" sz="1150" b="1" dirty="0" err="1">
                <a:solidFill>
                  <a:srgbClr val="64748B"/>
                </a:solidFill>
              </a:rPr>
              <a:t>foglalásokkal</a:t>
            </a:r>
            <a:r>
              <a:rPr lang="en-US" sz="1150" b="1" dirty="0">
                <a:solidFill>
                  <a:srgbClr val="64748B"/>
                </a:solidFill>
              </a:rPr>
              <a:t> </a:t>
            </a:r>
            <a:r>
              <a:rPr lang="en-US" sz="1150" b="1" dirty="0" err="1">
                <a:solidFill>
                  <a:srgbClr val="64748B"/>
                </a:solidFill>
              </a:rPr>
              <a:t>kapcsolatban</a:t>
            </a:r>
            <a:r>
              <a:rPr lang="en-US" sz="1150" b="1" dirty="0">
                <a:solidFill>
                  <a:srgbClr val="64748B"/>
                </a:solidFill>
              </a:rPr>
              <a:t>.</a:t>
            </a:r>
            <a:endParaRPr lang="en-US" sz="1150" b="1" dirty="0"/>
          </a:p>
        </p:txBody>
      </p:sp>
      <p:sp>
        <p:nvSpPr>
          <p:cNvPr id="57" name="Shape 3">
            <a:extLst>
              <a:ext uri="{FF2B5EF4-FFF2-40B4-BE49-F238E27FC236}">
                <a16:creationId xmlns:a16="http://schemas.microsoft.com/office/drawing/2014/main" id="{E25831EA-F593-7BDE-786C-0E54877B8E00}"/>
              </a:ext>
            </a:extLst>
          </p:cNvPr>
          <p:cNvSpPr/>
          <p:nvPr/>
        </p:nvSpPr>
        <p:spPr>
          <a:xfrm>
            <a:off x="8409432" y="3617849"/>
            <a:ext cx="2944368" cy="1536192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905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b="1"/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FE68B600-7EF4-5898-6E36-BFD5D772A771}"/>
              </a:ext>
            </a:extLst>
          </p:cNvPr>
          <p:cNvSpPr/>
          <p:nvPr/>
        </p:nvSpPr>
        <p:spPr>
          <a:xfrm>
            <a:off x="8574024" y="3819017"/>
            <a:ext cx="512064" cy="51206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r>
              <a:rPr lang="en-US" sz="1600" b="1" dirty="0">
                <a:solidFill>
                  <a:schemeClr val="bg1"/>
                </a:solidFill>
              </a:rPr>
              <a:t>6.</a:t>
            </a:r>
            <a:endParaRPr lang="en-US" sz="1600" b="1" dirty="0"/>
          </a:p>
        </p:txBody>
      </p:sp>
      <p:sp>
        <p:nvSpPr>
          <p:cNvPr id="59" name="Text 5">
            <a:extLst>
              <a:ext uri="{FF2B5EF4-FFF2-40B4-BE49-F238E27FC236}">
                <a16:creationId xmlns:a16="http://schemas.microsoft.com/office/drawing/2014/main" id="{6E41CC2E-1C2B-E13A-BF6A-0893B396B75A}"/>
              </a:ext>
            </a:extLst>
          </p:cNvPr>
          <p:cNvSpPr/>
          <p:nvPr/>
        </p:nvSpPr>
        <p:spPr>
          <a:xfrm>
            <a:off x="9250680" y="3828161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 err="1">
                <a:solidFill>
                  <a:srgbClr val="0B1F33"/>
                </a:solidFill>
              </a:rPr>
              <a:t>Moderáció</a:t>
            </a:r>
            <a:endParaRPr lang="en-US" sz="1800" b="1" dirty="0"/>
          </a:p>
        </p:txBody>
      </p:sp>
      <p:sp>
        <p:nvSpPr>
          <p:cNvPr id="60" name="Text 6">
            <a:extLst>
              <a:ext uri="{FF2B5EF4-FFF2-40B4-BE49-F238E27FC236}">
                <a16:creationId xmlns:a16="http://schemas.microsoft.com/office/drawing/2014/main" id="{93755ABC-691C-7452-B6CC-A28BA0CE8C6D}"/>
              </a:ext>
            </a:extLst>
          </p:cNvPr>
          <p:cNvSpPr/>
          <p:nvPr/>
        </p:nvSpPr>
        <p:spPr>
          <a:xfrm>
            <a:off x="8592312" y="4587113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64748B"/>
                </a:solidFill>
              </a:rPr>
              <a:t>A </a:t>
            </a:r>
            <a:r>
              <a:rPr lang="en-US" sz="1150" b="1" dirty="0" err="1">
                <a:solidFill>
                  <a:srgbClr val="64748B"/>
                </a:solidFill>
              </a:rPr>
              <a:t>bejelentések</a:t>
            </a:r>
            <a:r>
              <a:rPr lang="en-US" sz="1150" b="1" dirty="0">
                <a:solidFill>
                  <a:srgbClr val="64748B"/>
                </a:solidFill>
              </a:rPr>
              <a:t> </a:t>
            </a:r>
            <a:r>
              <a:rPr lang="en-US" sz="1150" b="1" dirty="0" err="1">
                <a:solidFill>
                  <a:srgbClr val="64748B"/>
                </a:solidFill>
              </a:rPr>
              <a:t>és</a:t>
            </a:r>
            <a:r>
              <a:rPr lang="en-US" sz="1150" b="1" dirty="0">
                <a:solidFill>
                  <a:srgbClr val="64748B"/>
                </a:solidFill>
              </a:rPr>
              <a:t> </a:t>
            </a:r>
            <a:r>
              <a:rPr lang="en-US" sz="1150" b="1" dirty="0" err="1">
                <a:solidFill>
                  <a:srgbClr val="64748B"/>
                </a:solidFill>
              </a:rPr>
              <a:t>problémák</a:t>
            </a:r>
            <a:r>
              <a:rPr lang="en-US" sz="1150" b="1" dirty="0">
                <a:solidFill>
                  <a:srgbClr val="64748B"/>
                </a:solidFill>
              </a:rPr>
              <a:t> </a:t>
            </a:r>
            <a:r>
              <a:rPr lang="en-US" sz="1150" b="1" dirty="0" err="1">
                <a:solidFill>
                  <a:srgbClr val="64748B"/>
                </a:solidFill>
              </a:rPr>
              <a:t>kezelése</a:t>
            </a:r>
            <a:r>
              <a:rPr lang="en-US" sz="1150" b="1" dirty="0">
                <a:solidFill>
                  <a:srgbClr val="64748B"/>
                </a:solidFill>
              </a:rPr>
              <a:t> </a:t>
            </a:r>
            <a:r>
              <a:rPr lang="en-US" sz="1150" b="1" dirty="0" err="1">
                <a:solidFill>
                  <a:srgbClr val="64748B"/>
                </a:solidFill>
              </a:rPr>
              <a:t>egy</a:t>
            </a:r>
            <a:r>
              <a:rPr lang="en-US" sz="1150" b="1" dirty="0">
                <a:solidFill>
                  <a:srgbClr val="64748B"/>
                </a:solidFill>
              </a:rPr>
              <a:t> </a:t>
            </a:r>
            <a:r>
              <a:rPr lang="en-US" sz="1150" b="1" dirty="0" err="1">
                <a:solidFill>
                  <a:srgbClr val="64748B"/>
                </a:solidFill>
              </a:rPr>
              <a:t>felületen</a:t>
            </a:r>
            <a:endParaRPr lang="en-US" sz="1150" b="1" dirty="0"/>
          </a:p>
        </p:txBody>
      </p:sp>
    </p:spTree>
    <p:extLst>
      <p:ext uri="{BB962C8B-B14F-4D97-AF65-F5344CB8AC3E}">
        <p14:creationId xmlns:p14="http://schemas.microsoft.com/office/powerpoint/2010/main" val="38795676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3E776-9B59-3500-8821-BBA174729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program </a:t>
            </a:r>
            <a:r>
              <a:rPr lang="en-US" b="1" dirty="0" err="1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felépítése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50B71A-8320-2D0A-B1F5-E2DB97631C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95BD607-CCCE-7CB1-1BB2-03A55B626E18}"/>
              </a:ext>
            </a:extLst>
          </p:cNvPr>
          <p:cNvSpPr/>
          <p:nvPr/>
        </p:nvSpPr>
        <p:spPr>
          <a:xfrm>
            <a:off x="1143000" y="1879600"/>
            <a:ext cx="2832100" cy="316230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/>
              <a:t>Frontend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HTML</a:t>
            </a:r>
          </a:p>
          <a:p>
            <a:pPr algn="ctr"/>
            <a:r>
              <a:rPr lang="en-US" dirty="0"/>
              <a:t>CSS</a:t>
            </a:r>
          </a:p>
          <a:p>
            <a:pPr algn="ctr"/>
            <a:r>
              <a:rPr lang="en-US" dirty="0"/>
              <a:t>JavaScript</a:t>
            </a:r>
          </a:p>
          <a:p>
            <a:pPr algn="ctr"/>
            <a:r>
              <a:rPr lang="en-US" dirty="0"/>
              <a:t>Bootstrap 5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B0CDB71-604B-016E-F682-4322C0266BB6}"/>
              </a:ext>
            </a:extLst>
          </p:cNvPr>
          <p:cNvSpPr/>
          <p:nvPr/>
        </p:nvSpPr>
        <p:spPr>
          <a:xfrm>
            <a:off x="4679950" y="1879600"/>
            <a:ext cx="2832100" cy="3162300"/>
          </a:xfrm>
          <a:prstGeom prst="roundRect">
            <a:avLst/>
          </a:prstGeom>
          <a:solidFill>
            <a:schemeClr val="tx2"/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/>
              <a:t>Backend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Node.js</a:t>
            </a:r>
          </a:p>
          <a:p>
            <a:pPr algn="ctr"/>
            <a:r>
              <a:rPr lang="en-US" dirty="0"/>
              <a:t>Express.js</a:t>
            </a:r>
          </a:p>
          <a:p>
            <a:pPr algn="ctr"/>
            <a:r>
              <a:rPr lang="en-US" dirty="0"/>
              <a:t>REST API</a:t>
            </a:r>
          </a:p>
          <a:p>
            <a:pPr algn="ctr"/>
            <a:r>
              <a:rPr lang="en-US" dirty="0" err="1"/>
              <a:t>Hitelesítés</a:t>
            </a:r>
            <a:endParaRPr lang="en-US" dirty="0"/>
          </a:p>
          <a:p>
            <a:pPr algn="ctr"/>
            <a:r>
              <a:rPr lang="en-US" dirty="0"/>
              <a:t>Middleware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94950AB-9F9E-8B62-CE7D-C9FE506ADAA4}"/>
              </a:ext>
            </a:extLst>
          </p:cNvPr>
          <p:cNvSpPr/>
          <p:nvPr/>
        </p:nvSpPr>
        <p:spPr>
          <a:xfrm>
            <a:off x="8216900" y="1879600"/>
            <a:ext cx="2832100" cy="3162300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 err="1"/>
              <a:t>Adatbázis</a:t>
            </a:r>
            <a:endParaRPr lang="en-US" sz="2200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dirty="0"/>
              <a:t>Microsoft SQL Server</a:t>
            </a:r>
          </a:p>
          <a:p>
            <a:pPr algn="ctr"/>
            <a:r>
              <a:rPr lang="en-US" dirty="0"/>
              <a:t>T-SQL</a:t>
            </a:r>
          </a:p>
          <a:p>
            <a:pPr algn="ctr"/>
            <a:r>
              <a:rPr lang="en-US" dirty="0" err="1"/>
              <a:t>Kapcsolatok</a:t>
            </a:r>
            <a:endParaRPr lang="en-US" dirty="0"/>
          </a:p>
          <a:p>
            <a:pPr algn="ctr"/>
            <a:r>
              <a:rPr lang="en-US" dirty="0" err="1"/>
              <a:t>indexek</a:t>
            </a:r>
            <a:endParaRPr lang="en-US" dirty="0"/>
          </a:p>
        </p:txBody>
      </p:sp>
      <p:sp>
        <p:nvSpPr>
          <p:cNvPr id="8" name="Arrow: Chevron 7">
            <a:extLst>
              <a:ext uri="{FF2B5EF4-FFF2-40B4-BE49-F238E27FC236}">
                <a16:creationId xmlns:a16="http://schemas.microsoft.com/office/drawing/2014/main" id="{FE794222-3530-18EF-0ACE-7AAC7A236971}"/>
              </a:ext>
            </a:extLst>
          </p:cNvPr>
          <p:cNvSpPr/>
          <p:nvPr/>
        </p:nvSpPr>
        <p:spPr>
          <a:xfrm>
            <a:off x="4057650" y="3110624"/>
            <a:ext cx="539750" cy="636749"/>
          </a:xfrm>
          <a:prstGeom prst="chevron">
            <a:avLst/>
          </a:prstGeom>
          <a:solidFill>
            <a:schemeClr val="bg2">
              <a:lumMod val="75000"/>
            </a:schemeClr>
          </a:solidFill>
          <a:ln>
            <a:solidFill>
              <a:schemeClr val="bg2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Arrow: Chevron 8">
            <a:extLst>
              <a:ext uri="{FF2B5EF4-FFF2-40B4-BE49-F238E27FC236}">
                <a16:creationId xmlns:a16="http://schemas.microsoft.com/office/drawing/2014/main" id="{2A187012-6060-80C9-7981-BD7F7396CF13}"/>
              </a:ext>
            </a:extLst>
          </p:cNvPr>
          <p:cNvSpPr/>
          <p:nvPr/>
        </p:nvSpPr>
        <p:spPr>
          <a:xfrm>
            <a:off x="7594600" y="3110625"/>
            <a:ext cx="539750" cy="636749"/>
          </a:xfrm>
          <a:prstGeom prst="chevron">
            <a:avLst/>
          </a:prstGeom>
          <a:solidFill>
            <a:schemeClr val="bg2">
              <a:lumMod val="75000"/>
            </a:schemeClr>
          </a:solidFill>
          <a:ln>
            <a:solidFill>
              <a:schemeClr val="bg2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Shape 14">
            <a:extLst>
              <a:ext uri="{FF2B5EF4-FFF2-40B4-BE49-F238E27FC236}">
                <a16:creationId xmlns:a16="http://schemas.microsoft.com/office/drawing/2014/main" id="{EB170A94-D94A-B76C-8267-91DCE29FE985}"/>
              </a:ext>
            </a:extLst>
          </p:cNvPr>
          <p:cNvSpPr/>
          <p:nvPr/>
        </p:nvSpPr>
        <p:spPr>
          <a:xfrm>
            <a:off x="1363980" y="5495388"/>
            <a:ext cx="1783080" cy="347472"/>
          </a:xfrm>
          <a:prstGeom prst="roundRect">
            <a:avLst>
              <a:gd name="adj" fmla="val 47368"/>
            </a:avLst>
          </a:prstGeom>
          <a:solidFill>
            <a:srgbClr val="3F7CFF"/>
          </a:solidFill>
          <a:ln w="12700">
            <a:solidFill>
              <a:srgbClr val="3F7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5">
            <a:extLst>
              <a:ext uri="{FF2B5EF4-FFF2-40B4-BE49-F238E27FC236}">
                <a16:creationId xmlns:a16="http://schemas.microsoft.com/office/drawing/2014/main" id="{F3661DBA-F413-7600-12D9-7578348AC960}"/>
              </a:ext>
            </a:extLst>
          </p:cNvPr>
          <p:cNvSpPr/>
          <p:nvPr/>
        </p:nvSpPr>
        <p:spPr>
          <a:xfrm>
            <a:off x="1363980" y="5559396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Reszponzív felület</a:t>
            </a:r>
            <a:endParaRPr lang="en-US" sz="1200" dirty="0"/>
          </a:p>
        </p:txBody>
      </p:sp>
      <p:sp>
        <p:nvSpPr>
          <p:cNvPr id="13" name="Shape 16">
            <a:extLst>
              <a:ext uri="{FF2B5EF4-FFF2-40B4-BE49-F238E27FC236}">
                <a16:creationId xmlns:a16="http://schemas.microsoft.com/office/drawing/2014/main" id="{988C4D0A-E7A0-04E5-FF67-EEF22819EC1C}"/>
              </a:ext>
            </a:extLst>
          </p:cNvPr>
          <p:cNvSpPr/>
          <p:nvPr/>
        </p:nvSpPr>
        <p:spPr>
          <a:xfrm>
            <a:off x="3421380" y="5495388"/>
            <a:ext cx="1554480" cy="347472"/>
          </a:xfrm>
          <a:prstGeom prst="roundRect">
            <a:avLst>
              <a:gd name="adj" fmla="val 47368"/>
            </a:avLst>
          </a:prstGeom>
          <a:solidFill>
            <a:srgbClr val="11C5BF"/>
          </a:solidFill>
          <a:ln w="12700">
            <a:solidFill>
              <a:srgbClr val="11C5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7">
            <a:extLst>
              <a:ext uri="{FF2B5EF4-FFF2-40B4-BE49-F238E27FC236}">
                <a16:creationId xmlns:a16="http://schemas.microsoft.com/office/drawing/2014/main" id="{21A43621-A346-983F-5C79-D0944F43791B}"/>
              </a:ext>
            </a:extLst>
          </p:cNvPr>
          <p:cNvSpPr/>
          <p:nvPr/>
        </p:nvSpPr>
        <p:spPr>
          <a:xfrm>
            <a:off x="3421380" y="5559396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Űrlapkezelés</a:t>
            </a:r>
            <a:endParaRPr lang="en-US" sz="1200" dirty="0"/>
          </a:p>
        </p:txBody>
      </p:sp>
      <p:sp>
        <p:nvSpPr>
          <p:cNvPr id="15" name="Shape 18">
            <a:extLst>
              <a:ext uri="{FF2B5EF4-FFF2-40B4-BE49-F238E27FC236}">
                <a16:creationId xmlns:a16="http://schemas.microsoft.com/office/drawing/2014/main" id="{607F6DE7-835C-418C-2526-5E2FFD7C387C}"/>
              </a:ext>
            </a:extLst>
          </p:cNvPr>
          <p:cNvSpPr/>
          <p:nvPr/>
        </p:nvSpPr>
        <p:spPr>
          <a:xfrm>
            <a:off x="5204460" y="5495388"/>
            <a:ext cx="1783080" cy="347472"/>
          </a:xfrm>
          <a:prstGeom prst="roundRect">
            <a:avLst>
              <a:gd name="adj" fmla="val 47368"/>
            </a:avLst>
          </a:prstGeom>
          <a:solidFill>
            <a:srgbClr val="37B26C"/>
          </a:solidFill>
          <a:ln w="12700">
            <a:solidFill>
              <a:srgbClr val="37B26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9">
            <a:extLst>
              <a:ext uri="{FF2B5EF4-FFF2-40B4-BE49-F238E27FC236}">
                <a16:creationId xmlns:a16="http://schemas.microsoft.com/office/drawing/2014/main" id="{AF02B20F-6747-E071-F7F5-DE3256BE5475}"/>
              </a:ext>
            </a:extLst>
          </p:cNvPr>
          <p:cNvSpPr/>
          <p:nvPr/>
        </p:nvSpPr>
        <p:spPr>
          <a:xfrm>
            <a:off x="5204460" y="5559396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Dinamikus megjelenítés</a:t>
            </a:r>
            <a:endParaRPr lang="en-US" sz="1200" dirty="0"/>
          </a:p>
        </p:txBody>
      </p:sp>
      <p:sp>
        <p:nvSpPr>
          <p:cNvPr id="17" name="Shape 20">
            <a:extLst>
              <a:ext uri="{FF2B5EF4-FFF2-40B4-BE49-F238E27FC236}">
                <a16:creationId xmlns:a16="http://schemas.microsoft.com/office/drawing/2014/main" id="{2F39F0BF-B1A4-B408-EAA3-8DA21D39281E}"/>
              </a:ext>
            </a:extLst>
          </p:cNvPr>
          <p:cNvSpPr/>
          <p:nvPr/>
        </p:nvSpPr>
        <p:spPr>
          <a:xfrm>
            <a:off x="7261860" y="5495388"/>
            <a:ext cx="1417320" cy="347472"/>
          </a:xfrm>
          <a:prstGeom prst="roundRect">
            <a:avLst>
              <a:gd name="adj" fmla="val 47368"/>
            </a:avLst>
          </a:prstGeom>
          <a:solidFill>
            <a:srgbClr val="FFB84D"/>
          </a:solidFill>
          <a:ln w="12700">
            <a:solidFill>
              <a:srgbClr val="FFB8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21">
            <a:extLst>
              <a:ext uri="{FF2B5EF4-FFF2-40B4-BE49-F238E27FC236}">
                <a16:creationId xmlns:a16="http://schemas.microsoft.com/office/drawing/2014/main" id="{E19CB9CB-5155-6FA5-1839-A4609C075738}"/>
              </a:ext>
            </a:extLst>
          </p:cNvPr>
          <p:cNvSpPr/>
          <p:nvPr/>
        </p:nvSpPr>
        <p:spPr>
          <a:xfrm>
            <a:off x="7261860" y="5559396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F33"/>
                </a:solidFill>
              </a:rPr>
              <a:t>REST API</a:t>
            </a:r>
            <a:endParaRPr lang="en-US" sz="1200" dirty="0"/>
          </a:p>
        </p:txBody>
      </p:sp>
      <p:sp>
        <p:nvSpPr>
          <p:cNvPr id="19" name="Shape 22">
            <a:extLst>
              <a:ext uri="{FF2B5EF4-FFF2-40B4-BE49-F238E27FC236}">
                <a16:creationId xmlns:a16="http://schemas.microsoft.com/office/drawing/2014/main" id="{AC08FF6C-2AC0-D1A7-173A-D865DAE40BB5}"/>
              </a:ext>
            </a:extLst>
          </p:cNvPr>
          <p:cNvSpPr/>
          <p:nvPr/>
        </p:nvSpPr>
        <p:spPr>
          <a:xfrm>
            <a:off x="8935212" y="5495388"/>
            <a:ext cx="1627632" cy="347472"/>
          </a:xfrm>
          <a:prstGeom prst="roundRect">
            <a:avLst>
              <a:gd name="adj" fmla="val 47368"/>
            </a:avLst>
          </a:prstGeom>
          <a:solidFill>
            <a:srgbClr val="F06272"/>
          </a:solidFill>
          <a:ln w="12700">
            <a:solidFill>
              <a:srgbClr val="F062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23">
            <a:extLst>
              <a:ext uri="{FF2B5EF4-FFF2-40B4-BE49-F238E27FC236}">
                <a16:creationId xmlns:a16="http://schemas.microsoft.com/office/drawing/2014/main" id="{209B39AF-51E9-71F5-3388-C209E0D9C1E4}"/>
              </a:ext>
            </a:extLst>
          </p:cNvPr>
          <p:cNvSpPr/>
          <p:nvPr/>
        </p:nvSpPr>
        <p:spPr>
          <a:xfrm>
            <a:off x="8935212" y="5559396"/>
            <a:ext cx="1627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SQL alapú kezelés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5102057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BD0D9A-8562-399D-6D70-4AC6152E42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Backend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8362EA-9E70-E285-F47E-8A949787C8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FF1F83-1EE9-1594-6231-AA0F0169D7AD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F1E064CB-A977-6507-3956-51DFCDA151C8}"/>
              </a:ext>
            </a:extLst>
          </p:cNvPr>
          <p:cNvSpPr/>
          <p:nvPr/>
        </p:nvSpPr>
        <p:spPr>
          <a:xfrm>
            <a:off x="836612" y="2057400"/>
            <a:ext cx="3364992" cy="137160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83BDBD7-1800-7241-1D2A-26647E0825FC}"/>
              </a:ext>
            </a:extLst>
          </p:cNvPr>
          <p:cNvSpPr/>
          <p:nvPr/>
        </p:nvSpPr>
        <p:spPr>
          <a:xfrm>
            <a:off x="950026" y="2185253"/>
            <a:ext cx="166255" cy="1100871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ECBAE4C-8979-3D70-E706-6544ADEBE512}"/>
              </a:ext>
            </a:extLst>
          </p:cNvPr>
          <p:cNvSpPr txBox="1"/>
          <p:nvPr/>
        </p:nvSpPr>
        <p:spPr>
          <a:xfrm>
            <a:off x="1116280" y="2185254"/>
            <a:ext cx="30853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 err="1">
                <a:solidFill>
                  <a:srgbClr val="0B1F33"/>
                </a:solidFill>
              </a:rPr>
              <a:t>Technológia</a:t>
            </a:r>
            <a:endParaRPr lang="en-US" sz="1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EC8B776-D110-53C2-C562-DC9A5CE39C16}"/>
              </a:ext>
            </a:extLst>
          </p:cNvPr>
          <p:cNvSpPr txBox="1"/>
          <p:nvPr/>
        </p:nvSpPr>
        <p:spPr>
          <a:xfrm>
            <a:off x="1116280" y="2554586"/>
            <a:ext cx="308532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03040"/>
                </a:solidFill>
              </a:rPr>
              <a:t>Node.js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203040"/>
                </a:solidFill>
              </a:rPr>
              <a:t>Express.js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203040"/>
                </a:solidFill>
              </a:rPr>
              <a:t>REST API</a:t>
            </a:r>
            <a:endParaRPr lang="en-US" sz="1200" dirty="0"/>
          </a:p>
        </p:txBody>
      </p:sp>
      <p:sp>
        <p:nvSpPr>
          <p:cNvPr id="9" name="Shape 4">
            <a:extLst>
              <a:ext uri="{FF2B5EF4-FFF2-40B4-BE49-F238E27FC236}">
                <a16:creationId xmlns:a16="http://schemas.microsoft.com/office/drawing/2014/main" id="{2E0784F4-9831-D961-B1C5-4F974E57A9BB}"/>
              </a:ext>
            </a:extLst>
          </p:cNvPr>
          <p:cNvSpPr/>
          <p:nvPr/>
        </p:nvSpPr>
        <p:spPr>
          <a:xfrm>
            <a:off x="836611" y="3556853"/>
            <a:ext cx="3364992" cy="137160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CF694F1-C546-ADA5-BA4D-26233B6BF407}"/>
              </a:ext>
            </a:extLst>
          </p:cNvPr>
          <p:cNvSpPr/>
          <p:nvPr/>
        </p:nvSpPr>
        <p:spPr>
          <a:xfrm>
            <a:off x="950025" y="3684706"/>
            <a:ext cx="166255" cy="1100871"/>
          </a:xfrm>
          <a:prstGeom prst="rect">
            <a:avLst/>
          </a:prstGeom>
          <a:solidFill>
            <a:schemeClr val="tx2"/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8ABD9CA-400E-3D59-8D3E-AC5FB5133196}"/>
              </a:ext>
            </a:extLst>
          </p:cNvPr>
          <p:cNvSpPr txBox="1"/>
          <p:nvPr/>
        </p:nvSpPr>
        <p:spPr>
          <a:xfrm>
            <a:off x="1116279" y="3684707"/>
            <a:ext cx="30853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 err="1">
                <a:solidFill>
                  <a:srgbClr val="0B1F33"/>
                </a:solidFill>
              </a:rPr>
              <a:t>Alap</a:t>
            </a:r>
            <a:r>
              <a:rPr lang="en-US" sz="1800" b="1" dirty="0">
                <a:solidFill>
                  <a:srgbClr val="0B1F33"/>
                </a:solidFill>
              </a:rPr>
              <a:t> </a:t>
            </a:r>
            <a:r>
              <a:rPr lang="en-US" sz="1800" b="1" dirty="0" err="1">
                <a:solidFill>
                  <a:srgbClr val="0B1F33"/>
                </a:solidFill>
              </a:rPr>
              <a:t>feladatok</a:t>
            </a:r>
            <a:endParaRPr lang="en-US" sz="1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5A1EF34-9F4D-274C-9FA7-0804323A1A4D}"/>
              </a:ext>
            </a:extLst>
          </p:cNvPr>
          <p:cNvSpPr txBox="1"/>
          <p:nvPr/>
        </p:nvSpPr>
        <p:spPr>
          <a:xfrm>
            <a:off x="1116279" y="4054039"/>
            <a:ext cx="308532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200" dirty="0" err="1">
                <a:solidFill>
                  <a:srgbClr val="203040"/>
                </a:solidFill>
              </a:rPr>
              <a:t>Hitelesítés</a:t>
            </a:r>
            <a:endParaRPr lang="en-US" sz="1200" dirty="0">
              <a:solidFill>
                <a:srgbClr val="203040"/>
              </a:solidFill>
            </a:endParaRPr>
          </a:p>
          <a:p>
            <a:pPr marL="0" indent="0">
              <a:buNone/>
            </a:pPr>
            <a:r>
              <a:rPr lang="en-US" sz="1200" dirty="0" err="1">
                <a:solidFill>
                  <a:srgbClr val="203040"/>
                </a:solidFill>
              </a:rPr>
              <a:t>Bejelentkezés</a:t>
            </a:r>
            <a:endParaRPr lang="en-US" sz="1200" dirty="0">
              <a:solidFill>
                <a:srgbClr val="203040"/>
              </a:solidFill>
            </a:endParaRPr>
          </a:p>
          <a:p>
            <a:pPr marL="0" indent="0">
              <a:buNone/>
            </a:pPr>
            <a:r>
              <a:rPr lang="en-US" sz="1200" dirty="0" err="1">
                <a:solidFill>
                  <a:srgbClr val="203040"/>
                </a:solidFill>
              </a:rPr>
              <a:t>Jogosultságkezelés</a:t>
            </a:r>
            <a:endParaRPr lang="en-US" sz="1200" dirty="0">
              <a:solidFill>
                <a:srgbClr val="203040"/>
              </a:solidFill>
            </a:endParaRPr>
          </a:p>
        </p:txBody>
      </p:sp>
      <p:pic>
        <p:nvPicPr>
          <p:cNvPr id="13" name="Picture 2" descr="Nodejs Detailed Flat Circular Flat icon | Freepik">
            <a:extLst>
              <a:ext uri="{FF2B5EF4-FFF2-40B4-BE49-F238E27FC236}">
                <a16:creationId xmlns:a16="http://schemas.microsoft.com/office/drawing/2014/main" id="{E05D379C-ED9C-8AD3-69BF-60869CC3EF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6611" y="5053012"/>
            <a:ext cx="1076325" cy="1076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Document moved">
            <a:extLst>
              <a:ext uri="{FF2B5EF4-FFF2-40B4-BE49-F238E27FC236}">
                <a16:creationId xmlns:a16="http://schemas.microsoft.com/office/drawing/2014/main" id="{47AD661F-B11A-A7C0-24DF-B69C0C3FFC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4099" y="5053012"/>
            <a:ext cx="1076326" cy="10763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Content Placeholder 5">
            <a:extLst>
              <a:ext uri="{FF2B5EF4-FFF2-40B4-BE49-F238E27FC236}">
                <a16:creationId xmlns:a16="http://schemas.microsoft.com/office/drawing/2014/main" id="{E60135A5-F560-8C33-303D-63B2B09F33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6974" y="175187"/>
            <a:ext cx="2398644" cy="6498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63678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5E258-8477-860F-1D8E-F91ED0E0B3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0B1F33"/>
                </a:solidFill>
              </a:rPr>
              <a:t>Modellek</a:t>
            </a:r>
            <a:r>
              <a:rPr lang="en-US" b="1" dirty="0">
                <a:solidFill>
                  <a:srgbClr val="0B1F33"/>
                </a:solidFill>
              </a:rPr>
              <a:t> </a:t>
            </a:r>
            <a:r>
              <a:rPr lang="en-US" b="1" dirty="0" err="1">
                <a:solidFill>
                  <a:srgbClr val="0B1F33"/>
                </a:solidFill>
              </a:rPr>
              <a:t>és</a:t>
            </a:r>
            <a:r>
              <a:rPr lang="en-US" b="1" dirty="0">
                <a:solidFill>
                  <a:srgbClr val="0B1F33"/>
                </a:solidFill>
              </a:rPr>
              <a:t> </a:t>
            </a:r>
            <a:r>
              <a:rPr lang="en-US" b="1" dirty="0" err="1">
                <a:solidFill>
                  <a:srgbClr val="0B1F33"/>
                </a:solidFill>
              </a:rPr>
              <a:t>adattárolás</a:t>
            </a:r>
            <a:br>
              <a:rPr lang="en-US" dirty="0"/>
            </a:b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343AD6-C950-D408-189C-0FAF4CAEDD59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285750" indent="-28575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dirty="0" err="1"/>
              <a:t>Felhasználók</a:t>
            </a:r>
            <a:r>
              <a:rPr lang="en-US" dirty="0"/>
              <a:t> (</a:t>
            </a:r>
            <a:r>
              <a:rPr lang="en-US" dirty="0" err="1"/>
              <a:t>Felhasznalok</a:t>
            </a:r>
            <a:r>
              <a:rPr lang="en-US" dirty="0"/>
              <a:t>)</a:t>
            </a:r>
          </a:p>
          <a:p>
            <a:pPr marL="285750" indent="-28575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dirty="0" err="1"/>
              <a:t>Pályák</a:t>
            </a:r>
            <a:r>
              <a:rPr lang="en-US" dirty="0"/>
              <a:t> (Palya)</a:t>
            </a:r>
          </a:p>
          <a:p>
            <a:pPr marL="285750" indent="-28575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dirty="0" err="1"/>
              <a:t>Foglalások</a:t>
            </a:r>
            <a:r>
              <a:rPr lang="en-US" dirty="0"/>
              <a:t> (</a:t>
            </a:r>
            <a:r>
              <a:rPr lang="en-US" dirty="0" err="1"/>
              <a:t>Foglalas</a:t>
            </a:r>
            <a:r>
              <a:rPr lang="en-US" dirty="0"/>
              <a:t>)</a:t>
            </a:r>
          </a:p>
          <a:p>
            <a:pPr marL="285750" indent="-28575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dirty="0" err="1"/>
              <a:t>Értesítések</a:t>
            </a:r>
            <a:r>
              <a:rPr lang="en-US" dirty="0"/>
              <a:t> (</a:t>
            </a:r>
            <a:r>
              <a:rPr lang="en-US" dirty="0" err="1"/>
              <a:t>Ertesites</a:t>
            </a:r>
            <a:r>
              <a:rPr lang="en-US" dirty="0"/>
              <a:t>)</a:t>
            </a:r>
          </a:p>
          <a:p>
            <a:pPr marL="285750" indent="-28575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dirty="0" err="1"/>
              <a:t>Bejelentések</a:t>
            </a:r>
            <a:r>
              <a:rPr lang="en-US" dirty="0"/>
              <a:t> (</a:t>
            </a:r>
            <a:r>
              <a:rPr lang="en-US" dirty="0" err="1"/>
              <a:t>Bejelentesek</a:t>
            </a:r>
            <a:r>
              <a:rPr lang="en-US" dirty="0"/>
              <a:t>)</a:t>
            </a:r>
          </a:p>
          <a:p>
            <a:pPr marL="285750" indent="-28575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dirty="0"/>
              <a:t>Logok (Log)</a:t>
            </a:r>
          </a:p>
          <a:p>
            <a:pPr>
              <a:buClr>
                <a:schemeClr val="accent2"/>
              </a:buClr>
            </a:pPr>
            <a:endParaRPr lang="en-US" dirty="0"/>
          </a:p>
        </p:txBody>
      </p:sp>
      <p:pic>
        <p:nvPicPr>
          <p:cNvPr id="5" name="Kép 5">
            <a:extLst>
              <a:ext uri="{FF2B5EF4-FFF2-40B4-BE49-F238E27FC236}">
                <a16:creationId xmlns:a16="http://schemas.microsoft.com/office/drawing/2014/main" id="{1C99E32C-37C1-0ECC-C7E5-AB99571BA7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12333" y="987425"/>
            <a:ext cx="5513909" cy="487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8052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328A97-3827-1FEC-E8B8-856375D83B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EB248-2A0E-82BE-C181-6C2A692B2E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B1F33"/>
                </a:solidFill>
              </a:rPr>
              <a:t>Controller </a:t>
            </a:r>
            <a:r>
              <a:rPr lang="en-US" b="1" dirty="0" err="1">
                <a:solidFill>
                  <a:srgbClr val="0B1F33"/>
                </a:solidFill>
              </a:rPr>
              <a:t>logika</a:t>
            </a:r>
            <a:br>
              <a:rPr lang="en-US" dirty="0"/>
            </a:b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6DB318-64EA-0FA2-B680-02BC588B251E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285750" indent="-28575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dirty="0"/>
              <a:t>Auth controller</a:t>
            </a:r>
          </a:p>
          <a:p>
            <a:pPr marL="285750" indent="-28575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dirty="0"/>
              <a:t>Booking controller</a:t>
            </a:r>
          </a:p>
          <a:p>
            <a:pPr marL="285750" indent="-28575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dirty="0"/>
              <a:t>Profile controller</a:t>
            </a:r>
          </a:p>
          <a:p>
            <a:pPr marL="285750" indent="-28575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dirty="0"/>
              <a:t>Reports controller</a:t>
            </a:r>
          </a:p>
          <a:p>
            <a:pPr marL="285750" indent="-28575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dirty="0" err="1"/>
              <a:t>Kérésvalidálás</a:t>
            </a:r>
            <a:r>
              <a:rPr lang="en-US" dirty="0"/>
              <a:t> </a:t>
            </a:r>
            <a:r>
              <a:rPr lang="en-US" dirty="0" err="1"/>
              <a:t>és</a:t>
            </a:r>
            <a:r>
              <a:rPr lang="en-US" dirty="0"/>
              <a:t> service </a:t>
            </a:r>
            <a:r>
              <a:rPr lang="en-US" dirty="0" err="1"/>
              <a:t>hívások</a:t>
            </a:r>
            <a:endParaRPr lang="en-US" dirty="0"/>
          </a:p>
          <a:p>
            <a:pPr marL="285750" indent="-28575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dirty="0"/>
              <a:t>JSON </a:t>
            </a:r>
            <a:r>
              <a:rPr lang="en-US" dirty="0" err="1"/>
              <a:t>válaszok</a:t>
            </a:r>
            <a:r>
              <a:rPr lang="en-US" dirty="0"/>
              <a:t>, </a:t>
            </a:r>
            <a:r>
              <a:rPr lang="en-US" dirty="0" err="1"/>
              <a:t>hibakezelés</a:t>
            </a:r>
            <a:endParaRPr lang="en-US" dirty="0"/>
          </a:p>
          <a:p>
            <a:pPr>
              <a:buClr>
                <a:schemeClr val="accent2"/>
              </a:buClr>
            </a:pP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FFF142-340C-B906-947C-E32310748F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Content Placeholder 10">
            <a:extLst>
              <a:ext uri="{FF2B5EF4-FFF2-40B4-BE49-F238E27FC236}">
                <a16:creationId xmlns:a16="http://schemas.microsoft.com/office/drawing/2014/main" id="{57706186-9C5D-B050-836B-F7A1FA7EC2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3188" y="2126272"/>
            <a:ext cx="6172200" cy="2595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71366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96AA05-2907-B8F2-4B74-BE24C2BFD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12" y="355600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Frontend </a:t>
            </a:r>
            <a:r>
              <a:rPr lang="en-US" b="1" dirty="0" err="1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és</a:t>
            </a:r>
            <a:r>
              <a:rPr lang="en-US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b="1" dirty="0" err="1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reszponzivitás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BC9059-0ED0-A916-53C3-61B590259A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2924175" cy="823912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rgbClr val="0B1F33"/>
                </a:solidFill>
              </a:rPr>
              <a:t>Frontend stack</a:t>
            </a:r>
            <a:endParaRPr lang="en-US" sz="20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664D4E-8BE7-9F35-1F6B-50D6E2F3BC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2924175" cy="3684588"/>
          </a:xfrm>
        </p:spPr>
        <p:txBody>
          <a:bodyPr>
            <a:normAutofit/>
          </a:bodyPr>
          <a:lstStyle/>
          <a:p>
            <a:pPr>
              <a:buClr>
                <a:schemeClr val="accent2"/>
              </a:buClr>
            </a:pPr>
            <a:r>
              <a:rPr lang="en-US" sz="1600" dirty="0"/>
              <a:t>HTML, CSS, JavaScript</a:t>
            </a:r>
          </a:p>
          <a:p>
            <a:pPr>
              <a:buClr>
                <a:schemeClr val="accent2"/>
              </a:buClr>
            </a:pPr>
            <a:r>
              <a:rPr lang="en-US" sz="1600" dirty="0"/>
              <a:t>Bootstrap 5</a:t>
            </a:r>
          </a:p>
          <a:p>
            <a:pPr>
              <a:buClr>
                <a:schemeClr val="accent2"/>
              </a:buClr>
            </a:pPr>
            <a:r>
              <a:rPr lang="en-US" sz="1600" dirty="0" err="1"/>
              <a:t>Dinamikus</a:t>
            </a:r>
            <a:r>
              <a:rPr lang="en-US" sz="1600" dirty="0"/>
              <a:t> </a:t>
            </a:r>
            <a:r>
              <a:rPr lang="en-US" sz="1600" dirty="0" err="1"/>
              <a:t>megjelenítés</a:t>
            </a:r>
            <a:endParaRPr lang="en-US" sz="1600" dirty="0"/>
          </a:p>
          <a:p>
            <a:pPr>
              <a:buClr>
                <a:schemeClr val="accent2"/>
              </a:buClr>
            </a:pPr>
            <a:r>
              <a:rPr lang="en-US" sz="1600" dirty="0" err="1"/>
              <a:t>Űrlapkezelés</a:t>
            </a:r>
            <a:endParaRPr lang="en-US" sz="16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A397FC-5105-46BD-C81B-400A6F65B7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349694" y="1681163"/>
            <a:ext cx="2924175" cy="823912"/>
          </a:xfrm>
        </p:spPr>
        <p:txBody>
          <a:bodyPr>
            <a:normAutofit/>
          </a:bodyPr>
          <a:lstStyle/>
          <a:p>
            <a:r>
              <a:rPr lang="en-US" sz="2000" dirty="0" err="1">
                <a:solidFill>
                  <a:srgbClr val="0B1F33"/>
                </a:solidFill>
              </a:rPr>
              <a:t>Reszponzív</a:t>
            </a:r>
            <a:r>
              <a:rPr lang="en-US" sz="2000" dirty="0">
                <a:solidFill>
                  <a:srgbClr val="0B1F33"/>
                </a:solidFill>
              </a:rPr>
              <a:t> </a:t>
            </a:r>
            <a:r>
              <a:rPr lang="en-US" sz="2000" dirty="0" err="1">
                <a:solidFill>
                  <a:srgbClr val="0B1F33"/>
                </a:solidFill>
              </a:rPr>
              <a:t>működés</a:t>
            </a:r>
            <a:endParaRPr lang="en-US" sz="2000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A845566-DAC1-54BC-B744-6304CE1F85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348955" y="2505075"/>
            <a:ext cx="2924175" cy="3684588"/>
          </a:xfrm>
        </p:spPr>
        <p:txBody>
          <a:bodyPr>
            <a:normAutofit/>
          </a:bodyPr>
          <a:lstStyle/>
          <a:p>
            <a:pPr>
              <a:buClr>
                <a:schemeClr val="accent2"/>
              </a:buClr>
            </a:pPr>
            <a:r>
              <a:rPr lang="en-US" sz="1600" dirty="0" err="1"/>
              <a:t>Mobilbarát</a:t>
            </a:r>
            <a:r>
              <a:rPr lang="en-US" sz="1600" dirty="0"/>
              <a:t> </a:t>
            </a:r>
            <a:r>
              <a:rPr lang="en-US" sz="1600" dirty="0" err="1"/>
              <a:t>kialakítás</a:t>
            </a:r>
            <a:endParaRPr lang="en-US" sz="1600" dirty="0"/>
          </a:p>
          <a:p>
            <a:pPr>
              <a:buClr>
                <a:schemeClr val="accent2"/>
              </a:buClr>
            </a:pPr>
            <a:r>
              <a:rPr lang="en-US" sz="1600" dirty="0" err="1"/>
              <a:t>Bárhonnan</a:t>
            </a:r>
            <a:r>
              <a:rPr lang="en-US" sz="1600" dirty="0"/>
              <a:t> </a:t>
            </a:r>
            <a:r>
              <a:rPr lang="en-US" sz="1600" dirty="0" err="1"/>
              <a:t>könnyen</a:t>
            </a:r>
            <a:r>
              <a:rPr lang="en-US" sz="1600" dirty="0"/>
              <a:t> </a:t>
            </a:r>
            <a:r>
              <a:rPr lang="en-US" sz="1600" dirty="0" err="1"/>
              <a:t>elérhető</a:t>
            </a:r>
            <a:endParaRPr lang="en-US" sz="1600" dirty="0"/>
          </a:p>
          <a:p>
            <a:pPr>
              <a:buClr>
                <a:schemeClr val="accent2"/>
              </a:buClr>
            </a:pPr>
            <a:r>
              <a:rPr lang="en-US" sz="1600" dirty="0" err="1"/>
              <a:t>Egységes</a:t>
            </a:r>
            <a:r>
              <a:rPr lang="en-US" sz="1600" dirty="0"/>
              <a:t> </a:t>
            </a:r>
            <a:r>
              <a:rPr lang="en-US" sz="1600" dirty="0" err="1"/>
              <a:t>élmény</a:t>
            </a:r>
            <a:r>
              <a:rPr lang="en-US" sz="1600" dirty="0"/>
              <a:t> </a:t>
            </a:r>
            <a:r>
              <a:rPr lang="en-US" sz="1600" dirty="0" err="1"/>
              <a:t>több</a:t>
            </a:r>
            <a:r>
              <a:rPr lang="en-US" sz="1600" dirty="0"/>
              <a:t> </a:t>
            </a:r>
            <a:r>
              <a:rPr lang="en-US" sz="1600" dirty="0" err="1"/>
              <a:t>eszközön</a:t>
            </a:r>
            <a:endParaRPr lang="en-US" sz="16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E1400E2-3F9C-65BF-C98C-B3CC4D7FF0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1542" y="95651"/>
            <a:ext cx="2371833" cy="6657171"/>
          </a:xfrm>
          <a:prstGeom prst="rect">
            <a:avLst/>
          </a:prstGeom>
        </p:spPr>
      </p:pic>
      <p:pic>
        <p:nvPicPr>
          <p:cNvPr id="8" name="Picture 2" descr="Bootstrap IntelliSense - Visual Studio Marketplace">
            <a:extLst>
              <a:ext uri="{FF2B5EF4-FFF2-40B4-BE49-F238E27FC236}">
                <a16:creationId xmlns:a16="http://schemas.microsoft.com/office/drawing/2014/main" id="{9657C3C4-EEC5-AEAE-DA35-595EA61DE0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788" y="4508501"/>
            <a:ext cx="1019175" cy="1019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JavaScript Logo">
            <a:extLst>
              <a:ext uri="{FF2B5EF4-FFF2-40B4-BE49-F238E27FC236}">
                <a16:creationId xmlns:a16="http://schemas.microsoft.com/office/drawing/2014/main" id="{29FCCFDE-AF6A-A748-1F8B-B41DB0B4CD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7525" y="4352926"/>
            <a:ext cx="1315241" cy="13152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4" descr="Download Logo, Css, Css3. Royalty-Free Stock Illustration Image - Pixabay">
            <a:extLst>
              <a:ext uri="{FF2B5EF4-FFF2-40B4-BE49-F238E27FC236}">
                <a16:creationId xmlns:a16="http://schemas.microsoft.com/office/drawing/2014/main" id="{74B6F7B4-FBF3-6A14-1EA6-1843E3B123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2767" y="4430713"/>
            <a:ext cx="1246188" cy="1246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Kép 5">
            <a:extLst>
              <a:ext uri="{FF2B5EF4-FFF2-40B4-BE49-F238E27FC236}">
                <a16:creationId xmlns:a16="http://schemas.microsoft.com/office/drawing/2014/main" id="{58466914-6185-BD8F-F46D-2F69EE6ABEB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08550" y="2107676"/>
            <a:ext cx="1590419" cy="3420000"/>
          </a:xfrm>
          <a:prstGeom prst="rect">
            <a:avLst/>
          </a:prstGeom>
        </p:spPr>
      </p:pic>
      <p:pic>
        <p:nvPicPr>
          <p:cNvPr id="13" name="Tartalom helye 13">
            <a:extLst>
              <a:ext uri="{FF2B5EF4-FFF2-40B4-BE49-F238E27FC236}">
                <a16:creationId xmlns:a16="http://schemas.microsoft.com/office/drawing/2014/main" id="{4A38F0B3-36B3-ADB9-0FA0-2265F68EF7F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82043" y="4038600"/>
            <a:ext cx="1976853" cy="2609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9826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0AA6544-91B6-4ED9-B2C8-8FD6BB257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Adatbázis</a:t>
            </a:r>
            <a:endParaRPr lang="en-US" dirty="0"/>
          </a:p>
        </p:txBody>
      </p:sp>
      <p:pic>
        <p:nvPicPr>
          <p:cNvPr id="6" name="Tartalom helye 5">
            <a:extLst>
              <a:ext uri="{FF2B5EF4-FFF2-40B4-BE49-F238E27FC236}">
                <a16:creationId xmlns:a16="http://schemas.microsoft.com/office/drawing/2014/main" id="{31D638E9-5CE1-46EA-8999-C257126BFF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38164" y="1214879"/>
            <a:ext cx="3222023" cy="4059749"/>
          </a:xfrm>
        </p:spPr>
      </p:pic>
      <p:sp>
        <p:nvSpPr>
          <p:cNvPr id="4" name="Szöveg helye 3">
            <a:extLst>
              <a:ext uri="{FF2B5EF4-FFF2-40B4-BE49-F238E27FC236}">
                <a16:creationId xmlns:a16="http://schemas.microsoft.com/office/drawing/2014/main" id="{02A02D6E-5D80-4E12-8F51-74449DA10A10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hu-HU" dirty="0"/>
          </a:p>
        </p:txBody>
      </p:sp>
      <p:pic>
        <p:nvPicPr>
          <p:cNvPr id="6150" name="Picture 6">
            <a:extLst>
              <a:ext uri="{FF2B5EF4-FFF2-40B4-BE49-F238E27FC236}">
                <a16:creationId xmlns:a16="http://schemas.microsoft.com/office/drawing/2014/main" id="{F745C878-1781-4C6D-9ECA-1A1D2AB3B3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8476" y="4446714"/>
            <a:ext cx="1411287" cy="14112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hape 4">
            <a:extLst>
              <a:ext uri="{FF2B5EF4-FFF2-40B4-BE49-F238E27FC236}">
                <a16:creationId xmlns:a16="http://schemas.microsoft.com/office/drawing/2014/main" id="{68D0BF0A-BF6B-E093-2331-F7C331F6EADC}"/>
              </a:ext>
            </a:extLst>
          </p:cNvPr>
          <p:cNvSpPr/>
          <p:nvPr/>
        </p:nvSpPr>
        <p:spPr>
          <a:xfrm>
            <a:off x="836612" y="2057400"/>
            <a:ext cx="3364992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558FCB5-5DDD-3C34-54F3-D17DB7A0D984}"/>
              </a:ext>
            </a:extLst>
          </p:cNvPr>
          <p:cNvSpPr/>
          <p:nvPr/>
        </p:nvSpPr>
        <p:spPr>
          <a:xfrm>
            <a:off x="950026" y="2185254"/>
            <a:ext cx="166255" cy="950026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43AF0F-1273-CFDE-23DC-E45676EE19BD}"/>
              </a:ext>
            </a:extLst>
          </p:cNvPr>
          <p:cNvSpPr txBox="1"/>
          <p:nvPr/>
        </p:nvSpPr>
        <p:spPr>
          <a:xfrm>
            <a:off x="1116280" y="2185254"/>
            <a:ext cx="30853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B1F33"/>
                </a:solidFill>
              </a:rPr>
              <a:t>Microsoft SQL Server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60D15E9-2460-97B0-E18A-E77E7525B3A6}"/>
              </a:ext>
            </a:extLst>
          </p:cNvPr>
          <p:cNvSpPr txBox="1"/>
          <p:nvPr/>
        </p:nvSpPr>
        <p:spPr>
          <a:xfrm>
            <a:off x="1116280" y="2554586"/>
            <a:ext cx="3085323" cy="4708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203040"/>
                </a:solidFill>
              </a:rPr>
              <a:t>Stabil </a:t>
            </a:r>
            <a:r>
              <a:rPr lang="en-US" sz="1200" dirty="0" err="1">
                <a:solidFill>
                  <a:srgbClr val="203040"/>
                </a:solidFill>
              </a:rPr>
              <a:t>relációs</a:t>
            </a:r>
            <a:r>
              <a:rPr lang="en-US" sz="1200" dirty="0">
                <a:solidFill>
                  <a:srgbClr val="203040"/>
                </a:solidFill>
              </a:rPr>
              <a:t> </a:t>
            </a:r>
            <a:r>
              <a:rPr lang="en-US" sz="1200" dirty="0" err="1">
                <a:solidFill>
                  <a:srgbClr val="203040"/>
                </a:solidFill>
              </a:rPr>
              <a:t>adatbázis</a:t>
            </a:r>
            <a:r>
              <a:rPr lang="en-US" sz="1200" dirty="0">
                <a:solidFill>
                  <a:srgbClr val="203040"/>
                </a:solidFill>
              </a:rPr>
              <a:t> a </a:t>
            </a:r>
            <a:r>
              <a:rPr lang="en-US" sz="1200" dirty="0" err="1">
                <a:solidFill>
                  <a:srgbClr val="203040"/>
                </a:solidFill>
              </a:rPr>
              <a:t>rendszer</a:t>
            </a:r>
            <a:r>
              <a:rPr lang="en-US" sz="1200" dirty="0">
                <a:solidFill>
                  <a:srgbClr val="203040"/>
                </a:solidFill>
              </a:rPr>
              <a:t> </a:t>
            </a:r>
            <a:r>
              <a:rPr lang="en-US" sz="1200" dirty="0" err="1">
                <a:solidFill>
                  <a:srgbClr val="203040"/>
                </a:solidFill>
              </a:rPr>
              <a:t>teljes</a:t>
            </a:r>
            <a:r>
              <a:rPr lang="en-US" sz="1200" dirty="0">
                <a:solidFill>
                  <a:srgbClr val="203040"/>
                </a:solidFill>
              </a:rPr>
              <a:t> </a:t>
            </a:r>
            <a:r>
              <a:rPr lang="en-US" sz="1200" dirty="0" err="1">
                <a:solidFill>
                  <a:srgbClr val="203040"/>
                </a:solidFill>
              </a:rPr>
              <a:t>adatkezeléséhez</a:t>
            </a:r>
            <a:r>
              <a:rPr lang="en-US" sz="1200" dirty="0">
                <a:solidFill>
                  <a:srgbClr val="203040"/>
                </a:solidFill>
              </a:rPr>
              <a:t>.</a:t>
            </a:r>
            <a:endParaRPr lang="en-US" sz="1200" dirty="0"/>
          </a:p>
        </p:txBody>
      </p:sp>
      <p:sp>
        <p:nvSpPr>
          <p:cNvPr id="13" name="Shape 4">
            <a:extLst>
              <a:ext uri="{FF2B5EF4-FFF2-40B4-BE49-F238E27FC236}">
                <a16:creationId xmlns:a16="http://schemas.microsoft.com/office/drawing/2014/main" id="{3376B246-B40A-C558-7E31-754FAEF7201D}"/>
              </a:ext>
            </a:extLst>
          </p:cNvPr>
          <p:cNvSpPr/>
          <p:nvPr/>
        </p:nvSpPr>
        <p:spPr>
          <a:xfrm>
            <a:off x="836612" y="3368834"/>
            <a:ext cx="3364992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AC84068-7EF8-5A04-6606-B3E78DFDFF20}"/>
              </a:ext>
            </a:extLst>
          </p:cNvPr>
          <p:cNvSpPr/>
          <p:nvPr/>
        </p:nvSpPr>
        <p:spPr>
          <a:xfrm>
            <a:off x="950026" y="3496688"/>
            <a:ext cx="166255" cy="950026"/>
          </a:xfrm>
          <a:prstGeom prst="rect">
            <a:avLst/>
          </a:prstGeom>
          <a:solidFill>
            <a:schemeClr val="tx2"/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C3A0176-1CAB-CBDE-0AB3-31871A438C52}"/>
              </a:ext>
            </a:extLst>
          </p:cNvPr>
          <p:cNvSpPr txBox="1"/>
          <p:nvPr/>
        </p:nvSpPr>
        <p:spPr>
          <a:xfrm>
            <a:off x="1116280" y="3496688"/>
            <a:ext cx="30853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B1F33"/>
                </a:solidFill>
              </a:rPr>
              <a:t>T-SQL </a:t>
            </a:r>
            <a:r>
              <a:rPr lang="en-US" b="1" dirty="0" err="1">
                <a:solidFill>
                  <a:srgbClr val="0B1F33"/>
                </a:solidFill>
              </a:rPr>
              <a:t>lekérdezések</a:t>
            </a: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35E20E6-EA5D-03EE-933F-51086945C091}"/>
              </a:ext>
            </a:extLst>
          </p:cNvPr>
          <p:cNvSpPr txBox="1"/>
          <p:nvPr/>
        </p:nvSpPr>
        <p:spPr>
          <a:xfrm>
            <a:off x="1116280" y="3866020"/>
            <a:ext cx="3085323" cy="4708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 err="1">
                <a:solidFill>
                  <a:srgbClr val="203040"/>
                </a:solidFill>
              </a:rPr>
              <a:t>Rugalmas</a:t>
            </a:r>
            <a:r>
              <a:rPr lang="en-US" sz="1200" dirty="0">
                <a:solidFill>
                  <a:srgbClr val="203040"/>
                </a:solidFill>
              </a:rPr>
              <a:t> </a:t>
            </a:r>
            <a:r>
              <a:rPr lang="en-US" sz="1200" dirty="0" err="1">
                <a:solidFill>
                  <a:srgbClr val="203040"/>
                </a:solidFill>
              </a:rPr>
              <a:t>lekérdezés</a:t>
            </a:r>
            <a:r>
              <a:rPr lang="en-US" sz="1200" dirty="0">
                <a:solidFill>
                  <a:srgbClr val="203040"/>
                </a:solidFill>
              </a:rPr>
              <a:t>- </a:t>
            </a:r>
            <a:r>
              <a:rPr lang="en-US" sz="1200" dirty="0" err="1">
                <a:solidFill>
                  <a:srgbClr val="203040"/>
                </a:solidFill>
              </a:rPr>
              <a:t>és</a:t>
            </a:r>
            <a:r>
              <a:rPr lang="en-US" sz="1200" dirty="0">
                <a:solidFill>
                  <a:srgbClr val="203040"/>
                </a:solidFill>
              </a:rPr>
              <a:t> </a:t>
            </a:r>
            <a:r>
              <a:rPr lang="en-US" sz="1200" dirty="0" err="1">
                <a:solidFill>
                  <a:srgbClr val="203040"/>
                </a:solidFill>
              </a:rPr>
              <a:t>műveletkezelés</a:t>
            </a:r>
            <a:r>
              <a:rPr lang="en-US" sz="1200" dirty="0">
                <a:solidFill>
                  <a:srgbClr val="203040"/>
                </a:solidFill>
              </a:rPr>
              <a:t> a backend </a:t>
            </a:r>
            <a:r>
              <a:rPr lang="en-US" sz="1200" dirty="0" err="1">
                <a:solidFill>
                  <a:srgbClr val="203040"/>
                </a:solidFill>
              </a:rPr>
              <a:t>felől</a:t>
            </a:r>
            <a:r>
              <a:rPr lang="en-US" sz="1200" dirty="0">
                <a:solidFill>
                  <a:srgbClr val="203040"/>
                </a:solidFill>
              </a:rPr>
              <a:t>.</a:t>
            </a:r>
            <a:endParaRPr lang="en-US" sz="1200" dirty="0"/>
          </a:p>
        </p:txBody>
      </p:sp>
      <p:sp>
        <p:nvSpPr>
          <p:cNvPr id="17" name="Shape 4">
            <a:extLst>
              <a:ext uri="{FF2B5EF4-FFF2-40B4-BE49-F238E27FC236}">
                <a16:creationId xmlns:a16="http://schemas.microsoft.com/office/drawing/2014/main" id="{AAE54D2E-3F4B-98FB-40A9-4C718BA5B435}"/>
              </a:ext>
            </a:extLst>
          </p:cNvPr>
          <p:cNvSpPr/>
          <p:nvPr/>
        </p:nvSpPr>
        <p:spPr>
          <a:xfrm>
            <a:off x="836612" y="4680268"/>
            <a:ext cx="3364992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54F7C53-A90A-3631-38CB-14CDEBF7B0ED}"/>
              </a:ext>
            </a:extLst>
          </p:cNvPr>
          <p:cNvSpPr/>
          <p:nvPr/>
        </p:nvSpPr>
        <p:spPr>
          <a:xfrm>
            <a:off x="950026" y="4808122"/>
            <a:ext cx="166255" cy="95002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F55B309-1E5B-69C0-4BA7-D6421A17B005}"/>
              </a:ext>
            </a:extLst>
          </p:cNvPr>
          <p:cNvSpPr txBox="1"/>
          <p:nvPr/>
        </p:nvSpPr>
        <p:spPr>
          <a:xfrm>
            <a:off x="1116280" y="4808122"/>
            <a:ext cx="30853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>
                <a:solidFill>
                  <a:srgbClr val="0B1F33"/>
                </a:solidFill>
              </a:rPr>
              <a:t>Kapcsolatok</a:t>
            </a:r>
            <a:r>
              <a:rPr lang="en-US" b="1" dirty="0">
                <a:solidFill>
                  <a:srgbClr val="0B1F33"/>
                </a:solidFill>
              </a:rPr>
              <a:t> </a:t>
            </a:r>
            <a:r>
              <a:rPr lang="en-US" b="1" dirty="0" err="1">
                <a:solidFill>
                  <a:srgbClr val="0B1F33"/>
                </a:solidFill>
              </a:rPr>
              <a:t>és</a:t>
            </a:r>
            <a:r>
              <a:rPr lang="en-US" b="1" dirty="0">
                <a:solidFill>
                  <a:srgbClr val="0B1F33"/>
                </a:solidFill>
              </a:rPr>
              <a:t> </a:t>
            </a:r>
            <a:r>
              <a:rPr lang="en-US" b="1" dirty="0" err="1">
                <a:solidFill>
                  <a:srgbClr val="0B1F33"/>
                </a:solidFill>
              </a:rPr>
              <a:t>indexek</a:t>
            </a:r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CC2B6A5-0264-D652-79B2-8B54FF2CF6AF}"/>
              </a:ext>
            </a:extLst>
          </p:cNvPr>
          <p:cNvSpPr txBox="1"/>
          <p:nvPr/>
        </p:nvSpPr>
        <p:spPr>
          <a:xfrm>
            <a:off x="1116280" y="5177454"/>
            <a:ext cx="3085323" cy="4708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dirty="0" err="1">
                <a:solidFill>
                  <a:srgbClr val="203040"/>
                </a:solidFill>
              </a:rPr>
              <a:t>Táblák</a:t>
            </a:r>
            <a:r>
              <a:rPr lang="en-US" sz="1200" dirty="0">
                <a:solidFill>
                  <a:srgbClr val="203040"/>
                </a:solidFill>
              </a:rPr>
              <a:t> </a:t>
            </a:r>
            <a:r>
              <a:rPr lang="en-US" sz="1200" dirty="0" err="1">
                <a:solidFill>
                  <a:srgbClr val="203040"/>
                </a:solidFill>
              </a:rPr>
              <a:t>közötti</a:t>
            </a:r>
            <a:r>
              <a:rPr lang="en-US" sz="1200" dirty="0">
                <a:solidFill>
                  <a:srgbClr val="203040"/>
                </a:solidFill>
              </a:rPr>
              <a:t> </a:t>
            </a:r>
            <a:r>
              <a:rPr lang="en-US" sz="1200" dirty="0" err="1">
                <a:solidFill>
                  <a:srgbClr val="203040"/>
                </a:solidFill>
              </a:rPr>
              <a:t>kapcsolatok</a:t>
            </a:r>
            <a:r>
              <a:rPr lang="en-US" sz="1200" dirty="0">
                <a:solidFill>
                  <a:srgbClr val="203040"/>
                </a:solidFill>
              </a:rPr>
              <a:t> </a:t>
            </a:r>
            <a:r>
              <a:rPr lang="en-US" sz="1200" dirty="0" err="1">
                <a:solidFill>
                  <a:srgbClr val="203040"/>
                </a:solidFill>
              </a:rPr>
              <a:t>és</a:t>
            </a:r>
            <a:r>
              <a:rPr lang="en-US" sz="1200" dirty="0">
                <a:solidFill>
                  <a:srgbClr val="203040"/>
                </a:solidFill>
              </a:rPr>
              <a:t> </a:t>
            </a:r>
            <a:r>
              <a:rPr lang="en-US" sz="1200" dirty="0" err="1">
                <a:solidFill>
                  <a:srgbClr val="203040"/>
                </a:solidFill>
              </a:rPr>
              <a:t>optimalizált</a:t>
            </a:r>
            <a:r>
              <a:rPr lang="en-US" sz="1200" dirty="0">
                <a:solidFill>
                  <a:srgbClr val="203040"/>
                </a:solidFill>
              </a:rPr>
              <a:t> </a:t>
            </a:r>
            <a:r>
              <a:rPr lang="en-US" sz="1200" dirty="0" err="1">
                <a:solidFill>
                  <a:srgbClr val="203040"/>
                </a:solidFill>
              </a:rPr>
              <a:t>elérés</a:t>
            </a:r>
            <a:r>
              <a:rPr lang="en-US" sz="1200" dirty="0">
                <a:solidFill>
                  <a:srgbClr val="203040"/>
                </a:solidFill>
              </a:rPr>
              <a:t>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325007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05BA59-B87D-7DD4-A35E-45E8E637E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Tesztelés</a:t>
            </a:r>
            <a:r>
              <a:rPr lang="en-US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b="1" dirty="0" err="1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és</a:t>
            </a:r>
            <a:r>
              <a:rPr lang="en-US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b="1" dirty="0" err="1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minőség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E063D8-A59D-7E33-BE95-12372D3698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D2555528-1682-8675-E256-2E867A6912DC}"/>
              </a:ext>
            </a:extLst>
          </p:cNvPr>
          <p:cNvSpPr/>
          <p:nvPr/>
        </p:nvSpPr>
        <p:spPr>
          <a:xfrm>
            <a:off x="838200" y="1825624"/>
            <a:ext cx="3364992" cy="2694617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9E76F12-5CEA-FFB2-6AB5-A8330C6C2440}"/>
              </a:ext>
            </a:extLst>
          </p:cNvPr>
          <p:cNvSpPr/>
          <p:nvPr/>
        </p:nvSpPr>
        <p:spPr>
          <a:xfrm>
            <a:off x="951614" y="1953478"/>
            <a:ext cx="166255" cy="2442309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34FCA5-77D4-AEEF-1B09-20B47131DFF4}"/>
              </a:ext>
            </a:extLst>
          </p:cNvPr>
          <p:cNvSpPr txBox="1"/>
          <p:nvPr/>
        </p:nvSpPr>
        <p:spPr>
          <a:xfrm>
            <a:off x="1117868" y="1953479"/>
            <a:ext cx="30853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>
                <a:solidFill>
                  <a:srgbClr val="0B1F33"/>
                </a:solidFill>
              </a:rPr>
              <a:t>Funkcionális</a:t>
            </a:r>
            <a:r>
              <a:rPr lang="en-US" b="1" dirty="0">
                <a:solidFill>
                  <a:srgbClr val="0B1F33"/>
                </a:solidFill>
              </a:rPr>
              <a:t> </a:t>
            </a:r>
            <a:r>
              <a:rPr lang="en-US" b="1" dirty="0" err="1">
                <a:solidFill>
                  <a:srgbClr val="0B1F33"/>
                </a:solidFill>
              </a:rPr>
              <a:t>ellenőrzés</a:t>
            </a:r>
            <a:endParaRPr lang="en-US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C2F1C7-8EB8-60F1-C2DE-A7ACB8211CC7}"/>
              </a:ext>
            </a:extLst>
          </p:cNvPr>
          <p:cNvSpPr txBox="1"/>
          <p:nvPr/>
        </p:nvSpPr>
        <p:spPr>
          <a:xfrm>
            <a:off x="1117868" y="2322811"/>
            <a:ext cx="308532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203040"/>
                </a:solidFill>
              </a:rPr>
              <a:t>A </a:t>
            </a:r>
            <a:r>
              <a:rPr lang="en-US" sz="1200" dirty="0" err="1">
                <a:solidFill>
                  <a:srgbClr val="203040"/>
                </a:solidFill>
              </a:rPr>
              <a:t>fő</a:t>
            </a:r>
            <a:r>
              <a:rPr lang="en-US" sz="1200" dirty="0">
                <a:solidFill>
                  <a:srgbClr val="203040"/>
                </a:solidFill>
              </a:rPr>
              <a:t> </a:t>
            </a:r>
            <a:r>
              <a:rPr lang="en-US" sz="1200" dirty="0" err="1">
                <a:solidFill>
                  <a:srgbClr val="203040"/>
                </a:solidFill>
              </a:rPr>
              <a:t>felhasználói</a:t>
            </a:r>
            <a:r>
              <a:rPr lang="en-US" sz="1200" dirty="0">
                <a:solidFill>
                  <a:srgbClr val="203040"/>
                </a:solidFill>
              </a:rPr>
              <a:t> </a:t>
            </a:r>
            <a:r>
              <a:rPr lang="en-US" sz="1200" dirty="0" err="1">
                <a:solidFill>
                  <a:srgbClr val="203040"/>
                </a:solidFill>
              </a:rPr>
              <a:t>folyamatok</a:t>
            </a:r>
            <a:r>
              <a:rPr lang="en-US" sz="1200" dirty="0">
                <a:solidFill>
                  <a:srgbClr val="203040"/>
                </a:solidFill>
              </a:rPr>
              <a:t> </a:t>
            </a:r>
            <a:r>
              <a:rPr lang="en-US" sz="1200" dirty="0" err="1">
                <a:solidFill>
                  <a:srgbClr val="203040"/>
                </a:solidFill>
              </a:rPr>
              <a:t>átnézése</a:t>
            </a:r>
            <a:r>
              <a:rPr lang="en-US" sz="1200" dirty="0">
                <a:solidFill>
                  <a:srgbClr val="203040"/>
                </a:solidFill>
              </a:rPr>
              <a:t>:</a:t>
            </a:r>
            <a:endParaRPr lang="en-US" sz="1200" dirty="0"/>
          </a:p>
          <a:p>
            <a:pPr marL="171450" indent="-171450"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rgbClr val="203040"/>
                </a:solidFill>
              </a:rPr>
              <a:t>regisztráció</a:t>
            </a:r>
            <a:endParaRPr lang="en-US" sz="1200" dirty="0"/>
          </a:p>
          <a:p>
            <a:pPr marL="171450" indent="-171450"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rgbClr val="203040"/>
                </a:solidFill>
              </a:rPr>
              <a:t>keresés</a:t>
            </a:r>
            <a:endParaRPr lang="en-US" sz="1200" dirty="0"/>
          </a:p>
          <a:p>
            <a:pPr marL="171450" indent="-171450"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rgbClr val="203040"/>
                </a:solidFill>
              </a:rPr>
              <a:t>foglalás</a:t>
            </a:r>
            <a:endParaRPr lang="en-US" sz="1200" dirty="0"/>
          </a:p>
          <a:p>
            <a:pPr marL="171450" indent="-171450"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rgbClr val="203040"/>
                </a:solidFill>
              </a:rPr>
              <a:t>értesítések</a:t>
            </a:r>
            <a:endParaRPr lang="en-US" sz="1200" dirty="0"/>
          </a:p>
          <a:p>
            <a:endParaRPr lang="hu-HU" sz="1200" dirty="0"/>
          </a:p>
        </p:txBody>
      </p:sp>
      <p:sp>
        <p:nvSpPr>
          <p:cNvPr id="17" name="Shape 4">
            <a:extLst>
              <a:ext uri="{FF2B5EF4-FFF2-40B4-BE49-F238E27FC236}">
                <a16:creationId xmlns:a16="http://schemas.microsoft.com/office/drawing/2014/main" id="{8C1B174C-FC1D-05D6-5B0F-7B325183B46E}"/>
              </a:ext>
            </a:extLst>
          </p:cNvPr>
          <p:cNvSpPr/>
          <p:nvPr/>
        </p:nvSpPr>
        <p:spPr>
          <a:xfrm>
            <a:off x="4316606" y="1825624"/>
            <a:ext cx="3364992" cy="2694617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4552235-B9DC-8F3F-D004-8F394DE5340C}"/>
              </a:ext>
            </a:extLst>
          </p:cNvPr>
          <p:cNvSpPr/>
          <p:nvPr/>
        </p:nvSpPr>
        <p:spPr>
          <a:xfrm>
            <a:off x="4430020" y="1953478"/>
            <a:ext cx="166255" cy="2442309"/>
          </a:xfrm>
          <a:prstGeom prst="rect">
            <a:avLst/>
          </a:prstGeom>
          <a:solidFill>
            <a:schemeClr val="tx2"/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5A24014-796E-6D13-B657-5EE2DC9ED7F0}"/>
              </a:ext>
            </a:extLst>
          </p:cNvPr>
          <p:cNvSpPr txBox="1"/>
          <p:nvPr/>
        </p:nvSpPr>
        <p:spPr>
          <a:xfrm>
            <a:off x="4596274" y="1953479"/>
            <a:ext cx="30853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>
                <a:solidFill>
                  <a:srgbClr val="0B1F33"/>
                </a:solidFill>
              </a:rPr>
              <a:t>Hibakezelés</a:t>
            </a:r>
            <a:endParaRPr lang="hu-HU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482E2F7-DC45-85C7-1156-56A797682425}"/>
              </a:ext>
            </a:extLst>
          </p:cNvPr>
          <p:cNvSpPr txBox="1"/>
          <p:nvPr/>
        </p:nvSpPr>
        <p:spPr>
          <a:xfrm>
            <a:off x="4596274" y="2322811"/>
            <a:ext cx="308532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203040"/>
                </a:solidFill>
              </a:rPr>
              <a:t>A </a:t>
            </a:r>
            <a:r>
              <a:rPr lang="en-US" sz="1200" dirty="0" err="1">
                <a:solidFill>
                  <a:srgbClr val="203040"/>
                </a:solidFill>
              </a:rPr>
              <a:t>backendben</a:t>
            </a:r>
            <a:r>
              <a:rPr lang="en-US" sz="1200" dirty="0">
                <a:solidFill>
                  <a:srgbClr val="203040"/>
                </a:solidFill>
              </a:rPr>
              <a:t> </a:t>
            </a:r>
            <a:r>
              <a:rPr lang="en-US" sz="1200" dirty="0" err="1">
                <a:solidFill>
                  <a:srgbClr val="203040"/>
                </a:solidFill>
              </a:rPr>
              <a:t>külön</a:t>
            </a:r>
            <a:r>
              <a:rPr lang="en-US" sz="1200" dirty="0">
                <a:solidFill>
                  <a:srgbClr val="203040"/>
                </a:solidFill>
              </a:rPr>
              <a:t> </a:t>
            </a:r>
            <a:r>
              <a:rPr lang="en-US" sz="1200" dirty="0" err="1">
                <a:solidFill>
                  <a:srgbClr val="203040"/>
                </a:solidFill>
              </a:rPr>
              <a:t>hangsúly</a:t>
            </a:r>
            <a:r>
              <a:rPr lang="en-US" sz="1200" dirty="0">
                <a:solidFill>
                  <a:srgbClr val="203040"/>
                </a:solidFill>
              </a:rPr>
              <a:t> a </a:t>
            </a:r>
            <a:r>
              <a:rPr lang="en-US" sz="1200" dirty="0" err="1">
                <a:solidFill>
                  <a:srgbClr val="203040"/>
                </a:solidFill>
              </a:rPr>
              <a:t>validáláson</a:t>
            </a:r>
            <a:r>
              <a:rPr lang="en-US" sz="1200" dirty="0">
                <a:solidFill>
                  <a:srgbClr val="203040"/>
                </a:solidFill>
              </a:rPr>
              <a:t>, a service </a:t>
            </a:r>
            <a:r>
              <a:rPr lang="en-US" sz="1200" dirty="0" err="1">
                <a:solidFill>
                  <a:srgbClr val="203040"/>
                </a:solidFill>
              </a:rPr>
              <a:t>hívásokon</a:t>
            </a:r>
            <a:r>
              <a:rPr lang="en-US" sz="1200" dirty="0">
                <a:solidFill>
                  <a:srgbClr val="203040"/>
                </a:solidFill>
              </a:rPr>
              <a:t> </a:t>
            </a:r>
            <a:r>
              <a:rPr lang="en-US" sz="1200" dirty="0" err="1">
                <a:solidFill>
                  <a:srgbClr val="203040"/>
                </a:solidFill>
              </a:rPr>
              <a:t>és</a:t>
            </a:r>
            <a:r>
              <a:rPr lang="en-US" sz="1200" dirty="0">
                <a:solidFill>
                  <a:srgbClr val="203040"/>
                </a:solidFill>
              </a:rPr>
              <a:t> a JSON </a:t>
            </a:r>
            <a:r>
              <a:rPr lang="en-US" sz="1200" dirty="0" err="1">
                <a:solidFill>
                  <a:srgbClr val="203040"/>
                </a:solidFill>
              </a:rPr>
              <a:t>alapú</a:t>
            </a:r>
            <a:r>
              <a:rPr lang="en-US" sz="1200" dirty="0">
                <a:solidFill>
                  <a:srgbClr val="203040"/>
                </a:solidFill>
              </a:rPr>
              <a:t> </a:t>
            </a:r>
            <a:r>
              <a:rPr lang="en-US" sz="1200" dirty="0" err="1">
                <a:solidFill>
                  <a:srgbClr val="203040"/>
                </a:solidFill>
              </a:rPr>
              <a:t>válaszkezelésen</a:t>
            </a:r>
            <a:r>
              <a:rPr lang="en-US" sz="1200" dirty="0">
                <a:solidFill>
                  <a:srgbClr val="203040"/>
                </a:solidFill>
              </a:rPr>
              <a:t>.</a:t>
            </a:r>
            <a:endParaRPr lang="en-US" sz="1200" dirty="0"/>
          </a:p>
        </p:txBody>
      </p:sp>
      <p:sp>
        <p:nvSpPr>
          <p:cNvPr id="25" name="Shape 4">
            <a:extLst>
              <a:ext uri="{FF2B5EF4-FFF2-40B4-BE49-F238E27FC236}">
                <a16:creationId xmlns:a16="http://schemas.microsoft.com/office/drawing/2014/main" id="{0F790C5F-8263-F04C-4F51-D123C590C9F6}"/>
              </a:ext>
            </a:extLst>
          </p:cNvPr>
          <p:cNvSpPr/>
          <p:nvPr/>
        </p:nvSpPr>
        <p:spPr>
          <a:xfrm>
            <a:off x="7795012" y="1825624"/>
            <a:ext cx="3364992" cy="2694617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FF281C4-EAAA-88B5-09FE-B03F5CB98175}"/>
              </a:ext>
            </a:extLst>
          </p:cNvPr>
          <p:cNvSpPr/>
          <p:nvPr/>
        </p:nvSpPr>
        <p:spPr>
          <a:xfrm>
            <a:off x="7908426" y="1953478"/>
            <a:ext cx="166255" cy="244230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7B8C904-04D9-AC18-9C6D-563C62DEB9EE}"/>
              </a:ext>
            </a:extLst>
          </p:cNvPr>
          <p:cNvSpPr txBox="1"/>
          <p:nvPr/>
        </p:nvSpPr>
        <p:spPr>
          <a:xfrm>
            <a:off x="8074680" y="1953479"/>
            <a:ext cx="30853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>
                <a:solidFill>
                  <a:srgbClr val="0B1F33"/>
                </a:solidFill>
              </a:rPr>
              <a:t>Felhasználói</a:t>
            </a:r>
            <a:r>
              <a:rPr lang="en-US" b="1" dirty="0">
                <a:solidFill>
                  <a:srgbClr val="0B1F33"/>
                </a:solidFill>
              </a:rPr>
              <a:t> </a:t>
            </a:r>
            <a:r>
              <a:rPr lang="en-US" b="1" dirty="0" err="1">
                <a:solidFill>
                  <a:srgbClr val="0B1F33"/>
                </a:solidFill>
              </a:rPr>
              <a:t>élmény</a:t>
            </a:r>
            <a:endParaRPr 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FC26FA7-F783-A2C2-69C5-F27023BFE1CC}"/>
              </a:ext>
            </a:extLst>
          </p:cNvPr>
          <p:cNvSpPr txBox="1"/>
          <p:nvPr/>
        </p:nvSpPr>
        <p:spPr>
          <a:xfrm>
            <a:off x="8074680" y="2322811"/>
            <a:ext cx="308532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 err="1">
                <a:solidFill>
                  <a:srgbClr val="203040"/>
                </a:solidFill>
              </a:rPr>
              <a:t>Reszponzív</a:t>
            </a:r>
            <a:r>
              <a:rPr lang="en-US" sz="1200" dirty="0">
                <a:solidFill>
                  <a:srgbClr val="203040"/>
                </a:solidFill>
              </a:rPr>
              <a:t> </a:t>
            </a:r>
            <a:r>
              <a:rPr lang="en-US" sz="1200" dirty="0" err="1">
                <a:solidFill>
                  <a:srgbClr val="203040"/>
                </a:solidFill>
              </a:rPr>
              <a:t>működés</a:t>
            </a:r>
            <a:r>
              <a:rPr lang="en-US" sz="1200" dirty="0">
                <a:solidFill>
                  <a:srgbClr val="203040"/>
                </a:solidFill>
              </a:rPr>
              <a:t> </a:t>
            </a:r>
            <a:r>
              <a:rPr lang="en-US" sz="1200" dirty="0" err="1">
                <a:solidFill>
                  <a:srgbClr val="203040"/>
                </a:solidFill>
              </a:rPr>
              <a:t>több</a:t>
            </a:r>
            <a:r>
              <a:rPr lang="en-US" sz="1200" dirty="0">
                <a:solidFill>
                  <a:srgbClr val="203040"/>
                </a:solidFill>
              </a:rPr>
              <a:t> </a:t>
            </a:r>
            <a:r>
              <a:rPr lang="en-US" sz="1200" dirty="0" err="1">
                <a:solidFill>
                  <a:srgbClr val="203040"/>
                </a:solidFill>
              </a:rPr>
              <a:t>eszközön</a:t>
            </a:r>
            <a:r>
              <a:rPr lang="en-US" sz="1200" dirty="0">
                <a:solidFill>
                  <a:srgbClr val="203040"/>
                </a:solidFill>
              </a:rPr>
              <a:t>, </a:t>
            </a:r>
            <a:r>
              <a:rPr lang="en-US" sz="1200" dirty="0" err="1">
                <a:solidFill>
                  <a:srgbClr val="203040"/>
                </a:solidFill>
              </a:rPr>
              <a:t>egyszerű</a:t>
            </a:r>
            <a:r>
              <a:rPr lang="en-US" sz="1200" dirty="0">
                <a:solidFill>
                  <a:srgbClr val="203040"/>
                </a:solidFill>
              </a:rPr>
              <a:t> </a:t>
            </a:r>
            <a:r>
              <a:rPr lang="en-US" sz="1200" dirty="0" err="1">
                <a:solidFill>
                  <a:srgbClr val="203040"/>
                </a:solidFill>
              </a:rPr>
              <a:t>űrlapok</a:t>
            </a:r>
            <a:r>
              <a:rPr lang="en-US" sz="1200" dirty="0">
                <a:solidFill>
                  <a:srgbClr val="203040"/>
                </a:solidFill>
              </a:rPr>
              <a:t> </a:t>
            </a:r>
            <a:r>
              <a:rPr lang="en-US" sz="1200" dirty="0" err="1">
                <a:solidFill>
                  <a:srgbClr val="203040"/>
                </a:solidFill>
              </a:rPr>
              <a:t>és</a:t>
            </a:r>
            <a:r>
              <a:rPr lang="en-US" sz="1200" dirty="0">
                <a:solidFill>
                  <a:srgbClr val="203040"/>
                </a:solidFill>
              </a:rPr>
              <a:t> </a:t>
            </a:r>
            <a:r>
              <a:rPr lang="en-US" sz="1200" dirty="0" err="1">
                <a:solidFill>
                  <a:srgbClr val="203040"/>
                </a:solidFill>
              </a:rPr>
              <a:t>átlátható</a:t>
            </a:r>
            <a:r>
              <a:rPr lang="en-US" sz="1200" dirty="0">
                <a:solidFill>
                  <a:srgbClr val="203040"/>
                </a:solidFill>
              </a:rPr>
              <a:t> </a:t>
            </a:r>
            <a:r>
              <a:rPr lang="en-US" sz="1200" dirty="0" err="1">
                <a:solidFill>
                  <a:srgbClr val="203040"/>
                </a:solidFill>
              </a:rPr>
              <a:t>kezelőfelület</a:t>
            </a:r>
            <a:r>
              <a:rPr lang="en-US" sz="1200" dirty="0">
                <a:solidFill>
                  <a:srgbClr val="203040"/>
                </a:solidFill>
              </a:rPr>
              <a:t>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6471428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B5A45-4625-E991-E195-1BF3C02A4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Csapatmunka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265A95-28E1-F23A-6CB3-D51AFC4E2E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A068809F-E96A-6A6A-7C02-B721378CB299}"/>
              </a:ext>
            </a:extLst>
          </p:cNvPr>
          <p:cNvSpPr/>
          <p:nvPr/>
        </p:nvSpPr>
        <p:spPr>
          <a:xfrm>
            <a:off x="838200" y="1825625"/>
            <a:ext cx="3364992" cy="137160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A3A67F4-3FB3-15EA-8F6F-0F8E7332FB57}"/>
              </a:ext>
            </a:extLst>
          </p:cNvPr>
          <p:cNvSpPr/>
          <p:nvPr/>
        </p:nvSpPr>
        <p:spPr>
          <a:xfrm>
            <a:off x="951614" y="1953478"/>
            <a:ext cx="166255" cy="1100871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7A9DE0-FF08-772F-9FFF-9673816B75AC}"/>
              </a:ext>
            </a:extLst>
          </p:cNvPr>
          <p:cNvSpPr txBox="1"/>
          <p:nvPr/>
        </p:nvSpPr>
        <p:spPr>
          <a:xfrm>
            <a:off x="1117868" y="1953479"/>
            <a:ext cx="30853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>
                <a:solidFill>
                  <a:srgbClr val="0B1F33"/>
                </a:solidFill>
              </a:rPr>
              <a:t>Kommunikáció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20BC0D-DD82-BF1D-E254-64DBA6C48862}"/>
              </a:ext>
            </a:extLst>
          </p:cNvPr>
          <p:cNvSpPr txBox="1"/>
          <p:nvPr/>
        </p:nvSpPr>
        <p:spPr>
          <a:xfrm>
            <a:off x="1117868" y="2322811"/>
            <a:ext cx="3085323" cy="6694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203040"/>
                </a:solidFill>
              </a:rPr>
              <a:t>Discord</a:t>
            </a:r>
            <a:endParaRPr lang="en-US" sz="1200" dirty="0"/>
          </a:p>
          <a:p>
            <a:r>
              <a:rPr lang="en-US" sz="1200" dirty="0" err="1">
                <a:solidFill>
                  <a:srgbClr val="203040"/>
                </a:solidFill>
              </a:rPr>
              <a:t>Folyamatos</a:t>
            </a:r>
            <a:r>
              <a:rPr lang="en-US" sz="1200" dirty="0">
                <a:solidFill>
                  <a:srgbClr val="203040"/>
                </a:solidFill>
              </a:rPr>
              <a:t> </a:t>
            </a:r>
            <a:r>
              <a:rPr lang="en-US" sz="1200" dirty="0" err="1">
                <a:solidFill>
                  <a:srgbClr val="203040"/>
                </a:solidFill>
              </a:rPr>
              <a:t>egyeztetés</a:t>
            </a:r>
            <a:endParaRPr lang="en-US" sz="1200" dirty="0"/>
          </a:p>
          <a:p>
            <a:r>
              <a:rPr lang="en-US" sz="1200" dirty="0" err="1">
                <a:solidFill>
                  <a:srgbClr val="203040"/>
                </a:solidFill>
              </a:rPr>
              <a:t>Gyors</a:t>
            </a:r>
            <a:r>
              <a:rPr lang="en-US" sz="1200" dirty="0">
                <a:solidFill>
                  <a:srgbClr val="203040"/>
                </a:solidFill>
              </a:rPr>
              <a:t> </a:t>
            </a:r>
            <a:r>
              <a:rPr lang="en-US" sz="1200" dirty="0" err="1">
                <a:solidFill>
                  <a:srgbClr val="203040"/>
                </a:solidFill>
              </a:rPr>
              <a:t>visszajelzések</a:t>
            </a:r>
            <a:endParaRPr lang="en-US" sz="1200" dirty="0"/>
          </a:p>
        </p:txBody>
      </p:sp>
      <p:sp>
        <p:nvSpPr>
          <p:cNvPr id="8" name="Shape 4">
            <a:extLst>
              <a:ext uri="{FF2B5EF4-FFF2-40B4-BE49-F238E27FC236}">
                <a16:creationId xmlns:a16="http://schemas.microsoft.com/office/drawing/2014/main" id="{F8B81D9E-2D0D-A417-9881-35CF56E0D4A9}"/>
              </a:ext>
            </a:extLst>
          </p:cNvPr>
          <p:cNvSpPr/>
          <p:nvPr/>
        </p:nvSpPr>
        <p:spPr>
          <a:xfrm>
            <a:off x="838199" y="3332162"/>
            <a:ext cx="3364992" cy="137160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F3FA08E-0AE9-134C-402B-8DF738E6A125}"/>
              </a:ext>
            </a:extLst>
          </p:cNvPr>
          <p:cNvSpPr/>
          <p:nvPr/>
        </p:nvSpPr>
        <p:spPr>
          <a:xfrm>
            <a:off x="951613" y="3460015"/>
            <a:ext cx="166255" cy="1100871"/>
          </a:xfrm>
          <a:prstGeom prst="rect">
            <a:avLst/>
          </a:prstGeom>
          <a:solidFill>
            <a:schemeClr val="tx2"/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888758A-ABE5-781B-E463-739B108F9333}"/>
              </a:ext>
            </a:extLst>
          </p:cNvPr>
          <p:cNvSpPr txBox="1"/>
          <p:nvPr/>
        </p:nvSpPr>
        <p:spPr>
          <a:xfrm>
            <a:off x="1117867" y="3460016"/>
            <a:ext cx="30853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>
                <a:solidFill>
                  <a:srgbClr val="0B1F33"/>
                </a:solidFill>
              </a:rPr>
              <a:t>Verziókezelés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9C5B360-81DC-AC94-EDCD-2BB6A584905B}"/>
              </a:ext>
            </a:extLst>
          </p:cNvPr>
          <p:cNvSpPr txBox="1"/>
          <p:nvPr/>
        </p:nvSpPr>
        <p:spPr>
          <a:xfrm>
            <a:off x="1117867" y="3829348"/>
            <a:ext cx="3085323" cy="6694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203040"/>
                </a:solidFill>
              </a:rPr>
              <a:t>GitHub</a:t>
            </a:r>
            <a:endParaRPr lang="en-US" sz="1200" dirty="0"/>
          </a:p>
          <a:p>
            <a:r>
              <a:rPr lang="en-US" sz="1200" dirty="0" err="1">
                <a:solidFill>
                  <a:srgbClr val="203040"/>
                </a:solidFill>
              </a:rPr>
              <a:t>Közös</a:t>
            </a:r>
            <a:r>
              <a:rPr lang="en-US" sz="1200" dirty="0">
                <a:solidFill>
                  <a:srgbClr val="203040"/>
                </a:solidFill>
              </a:rPr>
              <a:t> </a:t>
            </a:r>
            <a:r>
              <a:rPr lang="en-US" sz="1200" dirty="0" err="1">
                <a:solidFill>
                  <a:srgbClr val="203040"/>
                </a:solidFill>
              </a:rPr>
              <a:t>munkafolyamat</a:t>
            </a:r>
            <a:endParaRPr lang="en-US" sz="1200" dirty="0"/>
          </a:p>
          <a:p>
            <a:r>
              <a:rPr lang="en-US" sz="1200" dirty="0" err="1">
                <a:solidFill>
                  <a:srgbClr val="203040"/>
                </a:solidFill>
              </a:rPr>
              <a:t>Átlátható</a:t>
            </a:r>
            <a:r>
              <a:rPr lang="en-US" sz="1200" dirty="0">
                <a:solidFill>
                  <a:srgbClr val="203040"/>
                </a:solidFill>
              </a:rPr>
              <a:t> </a:t>
            </a:r>
            <a:r>
              <a:rPr lang="en-US" sz="1200" dirty="0" err="1">
                <a:solidFill>
                  <a:srgbClr val="203040"/>
                </a:solidFill>
              </a:rPr>
              <a:t>feladatmegosztás</a:t>
            </a:r>
            <a:endParaRPr lang="en-US" sz="1200" dirty="0"/>
          </a:p>
        </p:txBody>
      </p:sp>
      <p:sp>
        <p:nvSpPr>
          <p:cNvPr id="12" name="Shape 4">
            <a:extLst>
              <a:ext uri="{FF2B5EF4-FFF2-40B4-BE49-F238E27FC236}">
                <a16:creationId xmlns:a16="http://schemas.microsoft.com/office/drawing/2014/main" id="{DBE3744F-FC3E-3724-9FDF-9696A77B94C0}"/>
              </a:ext>
            </a:extLst>
          </p:cNvPr>
          <p:cNvSpPr/>
          <p:nvPr/>
        </p:nvSpPr>
        <p:spPr>
          <a:xfrm>
            <a:off x="838198" y="4838699"/>
            <a:ext cx="3364992" cy="137160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9935A90-123F-3AE3-B08C-CD83837EE3CD}"/>
              </a:ext>
            </a:extLst>
          </p:cNvPr>
          <p:cNvSpPr/>
          <p:nvPr/>
        </p:nvSpPr>
        <p:spPr>
          <a:xfrm>
            <a:off x="951612" y="4966552"/>
            <a:ext cx="166255" cy="1100871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4BCCF32-E14D-1C23-7331-059FDB257C1A}"/>
              </a:ext>
            </a:extLst>
          </p:cNvPr>
          <p:cNvSpPr txBox="1"/>
          <p:nvPr/>
        </p:nvSpPr>
        <p:spPr>
          <a:xfrm>
            <a:off x="1117866" y="4966553"/>
            <a:ext cx="308532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>
                <a:solidFill>
                  <a:srgbClr val="0B1F33"/>
                </a:solidFill>
              </a:rPr>
              <a:t>Közös</a:t>
            </a:r>
            <a:r>
              <a:rPr lang="en-US" b="1" dirty="0">
                <a:solidFill>
                  <a:srgbClr val="0B1F33"/>
                </a:solidFill>
              </a:rPr>
              <a:t> </a:t>
            </a:r>
            <a:r>
              <a:rPr lang="en-US" b="1" dirty="0" err="1">
                <a:solidFill>
                  <a:srgbClr val="0B1F33"/>
                </a:solidFill>
              </a:rPr>
              <a:t>elvek</a:t>
            </a:r>
            <a:endParaRPr lang="en-US" dirty="0"/>
          </a:p>
          <a:p>
            <a:pPr marL="0" indent="0">
              <a:buNone/>
            </a:pPr>
            <a:endParaRPr lang="en-US" sz="18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676D6D0-4894-BA57-B8B8-E51E1005309C}"/>
              </a:ext>
            </a:extLst>
          </p:cNvPr>
          <p:cNvSpPr txBox="1"/>
          <p:nvPr/>
        </p:nvSpPr>
        <p:spPr>
          <a:xfrm>
            <a:off x="1117866" y="5335885"/>
            <a:ext cx="3085323" cy="6694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 err="1">
                <a:solidFill>
                  <a:srgbClr val="203040"/>
                </a:solidFill>
              </a:rPr>
              <a:t>Egységes</a:t>
            </a:r>
            <a:r>
              <a:rPr lang="en-US" sz="1200" dirty="0">
                <a:solidFill>
                  <a:srgbClr val="203040"/>
                </a:solidFill>
              </a:rPr>
              <a:t> </a:t>
            </a:r>
            <a:r>
              <a:rPr lang="en-US" sz="1200" dirty="0" err="1">
                <a:solidFill>
                  <a:srgbClr val="203040"/>
                </a:solidFill>
              </a:rPr>
              <a:t>kódolási</a:t>
            </a:r>
            <a:r>
              <a:rPr lang="en-US" sz="1200" dirty="0">
                <a:solidFill>
                  <a:srgbClr val="203040"/>
                </a:solidFill>
              </a:rPr>
              <a:t> </a:t>
            </a:r>
            <a:r>
              <a:rPr lang="en-US" sz="1200" dirty="0" err="1">
                <a:solidFill>
                  <a:srgbClr val="203040"/>
                </a:solidFill>
              </a:rPr>
              <a:t>elvek</a:t>
            </a:r>
            <a:endParaRPr lang="en-US" sz="1200" dirty="0"/>
          </a:p>
          <a:p>
            <a:r>
              <a:rPr lang="en-US" sz="1200" dirty="0" err="1">
                <a:solidFill>
                  <a:srgbClr val="203040"/>
                </a:solidFill>
              </a:rPr>
              <a:t>Következetes</a:t>
            </a:r>
            <a:r>
              <a:rPr lang="en-US" sz="1200" dirty="0">
                <a:solidFill>
                  <a:srgbClr val="203040"/>
                </a:solidFill>
              </a:rPr>
              <a:t> </a:t>
            </a:r>
            <a:r>
              <a:rPr lang="en-US" sz="1200" dirty="0" err="1">
                <a:solidFill>
                  <a:srgbClr val="203040"/>
                </a:solidFill>
              </a:rPr>
              <a:t>fejlesztés</a:t>
            </a:r>
            <a:endParaRPr lang="en-US" sz="1200" dirty="0"/>
          </a:p>
          <a:p>
            <a:r>
              <a:rPr lang="en-US" sz="1200" dirty="0">
                <a:solidFill>
                  <a:srgbClr val="203040"/>
                </a:solidFill>
              </a:rPr>
              <a:t>Jobb </a:t>
            </a:r>
            <a:r>
              <a:rPr lang="en-US" sz="1200" dirty="0" err="1">
                <a:solidFill>
                  <a:srgbClr val="203040"/>
                </a:solidFill>
              </a:rPr>
              <a:t>karbantarthatóság</a:t>
            </a:r>
            <a:endParaRPr lang="en-US" sz="1200" dirty="0"/>
          </a:p>
        </p:txBody>
      </p:sp>
      <p:pic>
        <p:nvPicPr>
          <p:cNvPr id="16" name="Picture 2" descr="GitHub logo PNG transparent image download, size: 358x135px">
            <a:extLst>
              <a:ext uri="{FF2B5EF4-FFF2-40B4-BE49-F238E27FC236}">
                <a16:creationId xmlns:a16="http://schemas.microsoft.com/office/drawing/2014/main" id="{9E41491A-D60D-274D-8908-8595B5CB17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4371" y="1376584"/>
            <a:ext cx="3477460" cy="12889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4" descr="Discord Logo, symbol, meaning, history, PNG, brand">
            <a:extLst>
              <a:ext uri="{FF2B5EF4-FFF2-40B4-BE49-F238E27FC236}">
                <a16:creationId xmlns:a16="http://schemas.microsoft.com/office/drawing/2014/main" id="{75050615-C26D-795F-4188-FFC6CF4DE1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8340" y="2472839"/>
            <a:ext cx="2649521" cy="1490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Shape 15">
            <a:extLst>
              <a:ext uri="{FF2B5EF4-FFF2-40B4-BE49-F238E27FC236}">
                <a16:creationId xmlns:a16="http://schemas.microsoft.com/office/drawing/2014/main" id="{D2182CC0-8F0D-538F-C101-8B4CE4AC3070}"/>
              </a:ext>
            </a:extLst>
          </p:cNvPr>
          <p:cNvSpPr/>
          <p:nvPr/>
        </p:nvSpPr>
        <p:spPr>
          <a:xfrm>
            <a:off x="4316602" y="5834507"/>
            <a:ext cx="7240017" cy="658368"/>
          </a:xfrm>
          <a:prstGeom prst="roundRect">
            <a:avLst>
              <a:gd name="adj" fmla="val 6944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2E54C24B-DF0E-DCE6-ECB5-566EE8A88F36}"/>
              </a:ext>
            </a:extLst>
          </p:cNvPr>
          <p:cNvSpPr/>
          <p:nvPr/>
        </p:nvSpPr>
        <p:spPr>
          <a:xfrm>
            <a:off x="4545202" y="6026531"/>
            <a:ext cx="687619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</a:rPr>
              <a:t>A projekt sikerét a folyamatos kommunikáció és az egymásra épülő backend–frontend munka tette lehetővé.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16194246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7474C5C-E228-4E25-BB25-B7F1AB632F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u-HU" b="1" noProof="0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Csapatmunka - Backend</a:t>
            </a:r>
            <a:endParaRPr lang="hu-HU" noProof="0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2178A463-EECC-4EE3-BAFE-33E1DF9D370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hu-HU" noProof="0" dirty="0"/>
              <a:t>Demsa Levente</a:t>
            </a:r>
          </a:p>
          <a:p>
            <a:pPr lvl="1">
              <a:buClr>
                <a:schemeClr val="accent2"/>
              </a:buClr>
            </a:pPr>
            <a:r>
              <a:rPr lang="hu-HU" noProof="0" dirty="0"/>
              <a:t>Autentikáció</a:t>
            </a:r>
          </a:p>
          <a:p>
            <a:pPr lvl="1">
              <a:buClr>
                <a:schemeClr val="accent2"/>
              </a:buClr>
            </a:pPr>
            <a:r>
              <a:rPr lang="hu-HU" noProof="0" dirty="0"/>
              <a:t>Moderációs rendszer</a:t>
            </a:r>
            <a:endParaRPr lang="en-US" noProof="0" dirty="0"/>
          </a:p>
          <a:p>
            <a:pPr lvl="1">
              <a:buClr>
                <a:schemeClr val="accent2"/>
              </a:buClr>
            </a:pPr>
            <a:r>
              <a:rPr lang="hu-HU" dirty="0"/>
              <a:t>Profilkezelés</a:t>
            </a:r>
            <a:endParaRPr lang="hu-HU" noProof="0" dirty="0"/>
          </a:p>
          <a:p>
            <a:pPr lvl="1">
              <a:buClr>
                <a:schemeClr val="accent2"/>
              </a:buClr>
            </a:pPr>
            <a:r>
              <a:rPr lang="hu-HU" noProof="0" dirty="0"/>
              <a:t>Pálya szűrés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48C3A8CE-E1E8-4E68-A226-837E7F9D9CB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hu-HU" noProof="0" dirty="0"/>
              <a:t>Tóth Kornél</a:t>
            </a:r>
          </a:p>
          <a:p>
            <a:pPr lvl="1">
              <a:buClr>
                <a:schemeClr val="accent2"/>
              </a:buClr>
            </a:pPr>
            <a:r>
              <a:rPr lang="hu-HU" noProof="0" dirty="0"/>
              <a:t>Foglaláskezelés</a:t>
            </a:r>
          </a:p>
          <a:p>
            <a:pPr lvl="1">
              <a:buClr>
                <a:schemeClr val="accent2"/>
              </a:buClr>
            </a:pPr>
            <a:r>
              <a:rPr lang="hu-HU" noProof="0" dirty="0"/>
              <a:t>Pályakezelés</a:t>
            </a:r>
          </a:p>
          <a:p>
            <a:pPr lvl="1">
              <a:buClr>
                <a:schemeClr val="accent2"/>
              </a:buClr>
            </a:pPr>
            <a:r>
              <a:rPr lang="hu-HU" noProof="0" dirty="0"/>
              <a:t>Képfeltöltés </a:t>
            </a:r>
            <a:endParaRPr lang="en-US" noProof="0" dirty="0"/>
          </a:p>
          <a:p>
            <a:pPr lvl="1">
              <a:buClr>
                <a:schemeClr val="accent2"/>
              </a:buClr>
            </a:pPr>
            <a:r>
              <a:rPr lang="hu-HU" dirty="0"/>
              <a:t>Pálya szűrés</a:t>
            </a:r>
            <a:endParaRPr lang="hu-HU" noProof="0" dirty="0"/>
          </a:p>
          <a:p>
            <a:endParaRPr lang="hu-HU" noProof="0" dirty="0"/>
          </a:p>
        </p:txBody>
      </p:sp>
    </p:spTree>
    <p:extLst>
      <p:ext uri="{BB962C8B-B14F-4D97-AF65-F5344CB8AC3E}">
        <p14:creationId xmlns:p14="http://schemas.microsoft.com/office/powerpoint/2010/main" val="36093083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BA42213-2D2B-4809-936E-A05E74EE2D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err="1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Csapatmunka</a:t>
            </a:r>
            <a:r>
              <a:rPr lang="en-US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- Frontend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86C950FC-2C94-4AC7-BEEB-0DEF3CFEC62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hu-HU" dirty="0"/>
              <a:t>Demsa Levente</a:t>
            </a:r>
          </a:p>
          <a:p>
            <a:pPr lvl="1">
              <a:buClr>
                <a:schemeClr val="accent2"/>
              </a:buClr>
            </a:pPr>
            <a:r>
              <a:rPr lang="hu-HU" dirty="0"/>
              <a:t>Főoldal</a:t>
            </a:r>
          </a:p>
          <a:p>
            <a:pPr lvl="1">
              <a:buClr>
                <a:schemeClr val="accent2"/>
              </a:buClr>
            </a:pPr>
            <a:r>
              <a:rPr lang="hu-HU" dirty="0"/>
              <a:t>Profil részleg</a:t>
            </a:r>
          </a:p>
          <a:p>
            <a:pPr lvl="1">
              <a:buClr>
                <a:schemeClr val="accent2"/>
              </a:buClr>
            </a:pPr>
            <a:r>
              <a:rPr lang="hu-HU" dirty="0" err="1"/>
              <a:t>Admin</a:t>
            </a:r>
            <a:r>
              <a:rPr lang="hu-HU" dirty="0"/>
              <a:t> menü</a:t>
            </a:r>
          </a:p>
          <a:p>
            <a:pPr lvl="1">
              <a:buClr>
                <a:schemeClr val="accent2"/>
              </a:buClr>
            </a:pPr>
            <a:r>
              <a:rPr lang="hu-HU" dirty="0"/>
              <a:t>Statisztika</a:t>
            </a:r>
            <a:endParaRPr lang="en-US" dirty="0"/>
          </a:p>
          <a:p>
            <a:pPr lvl="1">
              <a:buClr>
                <a:schemeClr val="accent2"/>
              </a:buClr>
            </a:pPr>
            <a:r>
              <a:rPr lang="hu-HU" dirty="0"/>
              <a:t>Navigációs menü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CEF0DE1D-BB7E-4B5F-A830-C8FEBF49042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hu-HU" dirty="0"/>
              <a:t>Tóth Kornél</a:t>
            </a:r>
          </a:p>
          <a:p>
            <a:pPr lvl="1">
              <a:buClr>
                <a:schemeClr val="accent2"/>
              </a:buClr>
            </a:pPr>
            <a:r>
              <a:rPr lang="hu-HU" dirty="0"/>
              <a:t>Főoldal</a:t>
            </a:r>
          </a:p>
          <a:p>
            <a:pPr lvl="1">
              <a:buClr>
                <a:schemeClr val="accent2"/>
              </a:buClr>
            </a:pPr>
            <a:r>
              <a:rPr lang="hu-HU" dirty="0"/>
              <a:t>Képfeltöltés</a:t>
            </a:r>
          </a:p>
          <a:p>
            <a:pPr lvl="1">
              <a:buClr>
                <a:schemeClr val="accent2"/>
              </a:buClr>
            </a:pPr>
            <a:r>
              <a:rPr lang="hu-HU" dirty="0"/>
              <a:t>Pályák</a:t>
            </a:r>
          </a:p>
          <a:p>
            <a:pPr lvl="1">
              <a:buClr>
                <a:schemeClr val="accent2"/>
              </a:buClr>
            </a:pPr>
            <a:r>
              <a:rPr lang="hu-HU" dirty="0"/>
              <a:t>Értesítések</a:t>
            </a:r>
            <a:endParaRPr lang="en-US" dirty="0"/>
          </a:p>
          <a:p>
            <a:pPr lvl="1">
              <a:buClr>
                <a:schemeClr val="accent2"/>
              </a:buClr>
            </a:pPr>
            <a:r>
              <a:rPr lang="en-US" dirty="0" err="1"/>
              <a:t>Kapcsolat</a:t>
            </a:r>
            <a:r>
              <a:rPr lang="en-US" dirty="0"/>
              <a:t> (Email)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3774272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0591081-5ABA-4FE1-95C1-323E6151FA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Publikáció</a:t>
            </a:r>
            <a:r>
              <a:rPr lang="en-US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b="1" dirty="0" err="1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és</a:t>
            </a:r>
            <a:r>
              <a:rPr lang="en-US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b="1" dirty="0" err="1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üzemeltetés</a:t>
            </a:r>
            <a:endParaRPr lang="en-US" dirty="0"/>
          </a:p>
        </p:txBody>
      </p:sp>
      <p:sp>
        <p:nvSpPr>
          <p:cNvPr id="4" name="Shape 3">
            <a:extLst>
              <a:ext uri="{FF2B5EF4-FFF2-40B4-BE49-F238E27FC236}">
                <a16:creationId xmlns:a16="http://schemas.microsoft.com/office/drawing/2014/main" id="{738F0CA7-3E57-E325-ABD2-C80343138E37}"/>
              </a:ext>
            </a:extLst>
          </p:cNvPr>
          <p:cNvSpPr/>
          <p:nvPr/>
        </p:nvSpPr>
        <p:spPr>
          <a:xfrm>
            <a:off x="1005840" y="233172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651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3803A5F1-FC58-54A8-A6F2-01D8CDE51764}"/>
              </a:ext>
            </a:extLst>
          </p:cNvPr>
          <p:cNvSpPr/>
          <p:nvPr/>
        </p:nvSpPr>
        <p:spPr>
          <a:xfrm>
            <a:off x="1874520" y="2560320"/>
            <a:ext cx="475488" cy="475488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EC76C620-17D3-0328-3941-248D072F5A78}"/>
              </a:ext>
            </a:extLst>
          </p:cNvPr>
          <p:cNvSpPr/>
          <p:nvPr/>
        </p:nvSpPr>
        <p:spPr>
          <a:xfrm>
            <a:off x="1261872" y="31546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F33"/>
                </a:solidFill>
              </a:rPr>
              <a:t>VPS </a:t>
            </a:r>
            <a:r>
              <a:rPr lang="en-US" sz="2000" b="1" dirty="0" err="1">
                <a:solidFill>
                  <a:srgbClr val="0B1F33"/>
                </a:solidFill>
              </a:rPr>
              <a:t>Szerver</a:t>
            </a:r>
            <a:endParaRPr lang="en-US" sz="2000" dirty="0"/>
          </a:p>
        </p:txBody>
      </p:sp>
      <p:sp>
        <p:nvSpPr>
          <p:cNvPr id="8" name="Shape 7">
            <a:extLst>
              <a:ext uri="{FF2B5EF4-FFF2-40B4-BE49-F238E27FC236}">
                <a16:creationId xmlns:a16="http://schemas.microsoft.com/office/drawing/2014/main" id="{D7F5CF12-753D-227C-7F79-FD721D00AA26}"/>
              </a:ext>
            </a:extLst>
          </p:cNvPr>
          <p:cNvSpPr/>
          <p:nvPr/>
        </p:nvSpPr>
        <p:spPr>
          <a:xfrm>
            <a:off x="4434840" y="233172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651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8">
            <a:extLst>
              <a:ext uri="{FF2B5EF4-FFF2-40B4-BE49-F238E27FC236}">
                <a16:creationId xmlns:a16="http://schemas.microsoft.com/office/drawing/2014/main" id="{DB35ACA6-17B8-07A3-0720-0568294FD292}"/>
              </a:ext>
            </a:extLst>
          </p:cNvPr>
          <p:cNvSpPr/>
          <p:nvPr/>
        </p:nvSpPr>
        <p:spPr>
          <a:xfrm>
            <a:off x="5303520" y="2560320"/>
            <a:ext cx="475488" cy="47548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78519B9C-BFC0-D85C-1B09-B655E9FB2C92}"/>
              </a:ext>
            </a:extLst>
          </p:cNvPr>
          <p:cNvSpPr/>
          <p:nvPr/>
        </p:nvSpPr>
        <p:spPr>
          <a:xfrm>
            <a:off x="4690872" y="31546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F33"/>
                </a:solidFill>
              </a:rPr>
              <a:t>Ubuntu</a:t>
            </a:r>
            <a:endParaRPr lang="en-US" sz="2000" dirty="0"/>
          </a:p>
        </p:txBody>
      </p:sp>
      <p:sp>
        <p:nvSpPr>
          <p:cNvPr id="12" name="Shape 11">
            <a:extLst>
              <a:ext uri="{FF2B5EF4-FFF2-40B4-BE49-F238E27FC236}">
                <a16:creationId xmlns:a16="http://schemas.microsoft.com/office/drawing/2014/main" id="{4CE19ECC-830E-6DAD-84A0-4EA58091AF81}"/>
              </a:ext>
            </a:extLst>
          </p:cNvPr>
          <p:cNvSpPr/>
          <p:nvPr/>
        </p:nvSpPr>
        <p:spPr>
          <a:xfrm>
            <a:off x="7863840" y="233172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651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2">
            <a:extLst>
              <a:ext uri="{FF2B5EF4-FFF2-40B4-BE49-F238E27FC236}">
                <a16:creationId xmlns:a16="http://schemas.microsoft.com/office/drawing/2014/main" id="{E20C812C-8F27-A241-39E7-FD5258FB8ACF}"/>
              </a:ext>
            </a:extLst>
          </p:cNvPr>
          <p:cNvSpPr/>
          <p:nvPr/>
        </p:nvSpPr>
        <p:spPr>
          <a:xfrm>
            <a:off x="8732520" y="2560320"/>
            <a:ext cx="475488" cy="475488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 w="12700">
            <a:solidFill>
              <a:schemeClr val="tx1">
                <a:lumMod val="65000"/>
                <a:lumOff val="35000"/>
              </a:scheme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3">
            <a:extLst>
              <a:ext uri="{FF2B5EF4-FFF2-40B4-BE49-F238E27FC236}">
                <a16:creationId xmlns:a16="http://schemas.microsoft.com/office/drawing/2014/main" id="{A7BBA890-CE65-8D68-2078-81B060D4610D}"/>
              </a:ext>
            </a:extLst>
          </p:cNvPr>
          <p:cNvSpPr/>
          <p:nvPr/>
        </p:nvSpPr>
        <p:spPr>
          <a:xfrm>
            <a:off x="8119872" y="31546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F33"/>
                </a:solidFill>
              </a:rPr>
              <a:t>Nginx</a:t>
            </a:r>
            <a:endParaRPr lang="en-US" sz="2000" dirty="0"/>
          </a:p>
        </p:txBody>
      </p:sp>
      <p:sp>
        <p:nvSpPr>
          <p:cNvPr id="15" name="Arrow: Chevron 14">
            <a:extLst>
              <a:ext uri="{FF2B5EF4-FFF2-40B4-BE49-F238E27FC236}">
                <a16:creationId xmlns:a16="http://schemas.microsoft.com/office/drawing/2014/main" id="{B90B0609-0D67-62E7-0676-24FDF935C58F}"/>
              </a:ext>
            </a:extLst>
          </p:cNvPr>
          <p:cNvSpPr/>
          <p:nvPr/>
        </p:nvSpPr>
        <p:spPr>
          <a:xfrm>
            <a:off x="3593592" y="2743200"/>
            <a:ext cx="539750" cy="636749"/>
          </a:xfrm>
          <a:prstGeom prst="chevron">
            <a:avLst/>
          </a:prstGeom>
          <a:solidFill>
            <a:schemeClr val="bg2">
              <a:lumMod val="75000"/>
            </a:schemeClr>
          </a:solidFill>
          <a:ln>
            <a:solidFill>
              <a:schemeClr val="bg2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Arrow: Chevron 15">
            <a:extLst>
              <a:ext uri="{FF2B5EF4-FFF2-40B4-BE49-F238E27FC236}">
                <a16:creationId xmlns:a16="http://schemas.microsoft.com/office/drawing/2014/main" id="{D8C2A57A-BF88-3DFE-7C45-59861E1F1083}"/>
              </a:ext>
            </a:extLst>
          </p:cNvPr>
          <p:cNvSpPr/>
          <p:nvPr/>
        </p:nvSpPr>
        <p:spPr>
          <a:xfrm>
            <a:off x="7045325" y="2737768"/>
            <a:ext cx="539750" cy="636749"/>
          </a:xfrm>
          <a:prstGeom prst="chevron">
            <a:avLst/>
          </a:prstGeom>
          <a:solidFill>
            <a:schemeClr val="bg2">
              <a:lumMod val="75000"/>
            </a:schemeClr>
          </a:solidFill>
          <a:ln>
            <a:solidFill>
              <a:schemeClr val="bg2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Arrow: Down 6">
            <a:extLst>
              <a:ext uri="{FF2B5EF4-FFF2-40B4-BE49-F238E27FC236}">
                <a16:creationId xmlns:a16="http://schemas.microsoft.com/office/drawing/2014/main" id="{4F7017EC-427C-D7D5-A2B5-4BF368AE0A83}"/>
              </a:ext>
            </a:extLst>
          </p:cNvPr>
          <p:cNvSpPr/>
          <p:nvPr/>
        </p:nvSpPr>
        <p:spPr>
          <a:xfrm>
            <a:off x="8803382" y="3884302"/>
            <a:ext cx="452636" cy="698739"/>
          </a:xfrm>
          <a:prstGeom prst="downArrow">
            <a:avLst/>
          </a:prstGeom>
          <a:solidFill>
            <a:schemeClr val="bg2">
              <a:lumMod val="7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50BE8944-7FD6-D98A-B693-AEB111613F70}"/>
              </a:ext>
            </a:extLst>
          </p:cNvPr>
          <p:cNvSpPr/>
          <p:nvPr/>
        </p:nvSpPr>
        <p:spPr>
          <a:xfrm>
            <a:off x="7863840" y="4583041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651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2">
            <a:extLst>
              <a:ext uri="{FF2B5EF4-FFF2-40B4-BE49-F238E27FC236}">
                <a16:creationId xmlns:a16="http://schemas.microsoft.com/office/drawing/2014/main" id="{B31A8F39-5D2F-FFD8-C729-E9AF9DFC5DFD}"/>
              </a:ext>
            </a:extLst>
          </p:cNvPr>
          <p:cNvSpPr/>
          <p:nvPr/>
        </p:nvSpPr>
        <p:spPr>
          <a:xfrm>
            <a:off x="8732520" y="4811641"/>
            <a:ext cx="475488" cy="475488"/>
          </a:xfrm>
          <a:prstGeom prst="ellipse">
            <a:avLst/>
          </a:prstGeom>
          <a:solidFill>
            <a:schemeClr val="accent6">
              <a:lumMod val="75000"/>
            </a:schemeClr>
          </a:solidFill>
          <a:ln w="12700">
            <a:solidFill>
              <a:schemeClr val="tx1">
                <a:lumMod val="65000"/>
                <a:lumOff val="35000"/>
              </a:scheme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3">
            <a:extLst>
              <a:ext uri="{FF2B5EF4-FFF2-40B4-BE49-F238E27FC236}">
                <a16:creationId xmlns:a16="http://schemas.microsoft.com/office/drawing/2014/main" id="{B81D325F-ED02-C2A8-149A-78C3E9392975}"/>
              </a:ext>
            </a:extLst>
          </p:cNvPr>
          <p:cNvSpPr/>
          <p:nvPr/>
        </p:nvSpPr>
        <p:spPr>
          <a:xfrm>
            <a:off x="8119872" y="5406001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 err="1">
                <a:solidFill>
                  <a:srgbClr val="0B1F33"/>
                </a:solidFill>
              </a:rPr>
              <a:t>Node.Js</a:t>
            </a:r>
            <a:endParaRPr lang="en-US" sz="2000" dirty="0"/>
          </a:p>
        </p:txBody>
      </p:sp>
      <p:sp>
        <p:nvSpPr>
          <p:cNvPr id="22" name="Shape 11">
            <a:extLst>
              <a:ext uri="{FF2B5EF4-FFF2-40B4-BE49-F238E27FC236}">
                <a16:creationId xmlns:a16="http://schemas.microsoft.com/office/drawing/2014/main" id="{83CE57F7-76AD-2544-8A26-6ECCAE59053C}"/>
              </a:ext>
            </a:extLst>
          </p:cNvPr>
          <p:cNvSpPr/>
          <p:nvPr/>
        </p:nvSpPr>
        <p:spPr>
          <a:xfrm>
            <a:off x="4434840" y="4583041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651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2">
            <a:extLst>
              <a:ext uri="{FF2B5EF4-FFF2-40B4-BE49-F238E27FC236}">
                <a16:creationId xmlns:a16="http://schemas.microsoft.com/office/drawing/2014/main" id="{A7B81C1A-8DB3-B6F1-55FE-5BE9F121193E}"/>
              </a:ext>
            </a:extLst>
          </p:cNvPr>
          <p:cNvSpPr/>
          <p:nvPr/>
        </p:nvSpPr>
        <p:spPr>
          <a:xfrm>
            <a:off x="5303520" y="4811641"/>
            <a:ext cx="475488" cy="475488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 w="12700">
            <a:solidFill>
              <a:schemeClr val="tx2">
                <a:lumMod val="50000"/>
                <a:lumOff val="50000"/>
              </a:scheme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13">
            <a:extLst>
              <a:ext uri="{FF2B5EF4-FFF2-40B4-BE49-F238E27FC236}">
                <a16:creationId xmlns:a16="http://schemas.microsoft.com/office/drawing/2014/main" id="{91AEABD0-BB80-7F14-A9C4-DCE5F629C7C1}"/>
              </a:ext>
            </a:extLst>
          </p:cNvPr>
          <p:cNvSpPr/>
          <p:nvPr/>
        </p:nvSpPr>
        <p:spPr>
          <a:xfrm>
            <a:off x="4690872" y="5406001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F33"/>
                </a:solidFill>
              </a:rPr>
              <a:t>MSSQL</a:t>
            </a:r>
            <a:endParaRPr lang="en-US" sz="2000" dirty="0"/>
          </a:p>
        </p:txBody>
      </p:sp>
      <p:sp>
        <p:nvSpPr>
          <p:cNvPr id="25" name="Arrow: Chevron 24">
            <a:extLst>
              <a:ext uri="{FF2B5EF4-FFF2-40B4-BE49-F238E27FC236}">
                <a16:creationId xmlns:a16="http://schemas.microsoft.com/office/drawing/2014/main" id="{60DB1072-1F9D-1AD7-68B3-6B2F38724A6F}"/>
              </a:ext>
            </a:extLst>
          </p:cNvPr>
          <p:cNvSpPr/>
          <p:nvPr/>
        </p:nvSpPr>
        <p:spPr>
          <a:xfrm rot="10800000">
            <a:off x="7039155" y="4968754"/>
            <a:ext cx="539750" cy="636749"/>
          </a:xfrm>
          <a:prstGeom prst="chevron">
            <a:avLst/>
          </a:prstGeom>
          <a:solidFill>
            <a:schemeClr val="bg2">
              <a:lumMod val="75000"/>
            </a:schemeClr>
          </a:solidFill>
          <a:ln>
            <a:solidFill>
              <a:schemeClr val="bg2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1028" name="Picture 4" descr="Ubuntu Logo PNG Transparent - Brands Logos">
            <a:extLst>
              <a:ext uri="{FF2B5EF4-FFF2-40B4-BE49-F238E27FC236}">
                <a16:creationId xmlns:a16="http://schemas.microsoft.com/office/drawing/2014/main" id="{D05D244F-30AB-E6A8-E09A-416A76CF19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309" y="4362577"/>
            <a:ext cx="585589" cy="5855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Nginx 教程">
            <a:extLst>
              <a:ext uri="{FF2B5EF4-FFF2-40B4-BE49-F238E27FC236}">
                <a16:creationId xmlns:a16="http://schemas.microsoft.com/office/drawing/2014/main" id="{1AA2DDAB-F346-495E-D1F4-FC049207EB6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9833" y="4367396"/>
            <a:ext cx="1363551" cy="540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2" descr="Nodejs Detailed Flat Circular Flat icon | Freepik">
            <a:extLst>
              <a:ext uri="{FF2B5EF4-FFF2-40B4-BE49-F238E27FC236}">
                <a16:creationId xmlns:a16="http://schemas.microsoft.com/office/drawing/2014/main" id="{507AD5AE-99B4-A4F7-E485-29DA3B33CD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309" y="5049385"/>
            <a:ext cx="585589" cy="5855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6">
            <a:extLst>
              <a:ext uri="{FF2B5EF4-FFF2-40B4-BE49-F238E27FC236}">
                <a16:creationId xmlns:a16="http://schemas.microsoft.com/office/drawing/2014/main" id="{1B2E9606-D3BE-8CA3-FB55-5065DCAF2F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8905" y="5044128"/>
            <a:ext cx="585589" cy="5855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760961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79A8487-44DA-496C-AF55-E30CDE40C1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Jövőbeli</a:t>
            </a:r>
            <a:r>
              <a:rPr lang="en-US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b="1" dirty="0" err="1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fejlesztések</a:t>
            </a:r>
            <a:endParaRPr lang="en-US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EEEB6CB9-5C3E-43FC-B73A-8FD0FCBD56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chemeClr val="accent2"/>
              </a:buClr>
            </a:pPr>
            <a:r>
              <a:rPr lang="hu-HU" dirty="0"/>
              <a:t>Online fizetési lehetőség bevezetése</a:t>
            </a:r>
          </a:p>
          <a:p>
            <a:pPr>
              <a:buClr>
                <a:schemeClr val="accent2"/>
              </a:buClr>
            </a:pPr>
            <a:r>
              <a:rPr lang="hu-HU" dirty="0"/>
              <a:t>Mobilalkalmazás fejlesztése</a:t>
            </a:r>
          </a:p>
          <a:p>
            <a:pPr>
              <a:buClr>
                <a:schemeClr val="accent2"/>
              </a:buClr>
            </a:pPr>
            <a:r>
              <a:rPr lang="hu-HU" dirty="0"/>
              <a:t>Hirdetési lehetőségek kialakítása</a:t>
            </a:r>
          </a:p>
          <a:p>
            <a:pPr>
              <a:buClr>
                <a:schemeClr val="accent2"/>
              </a:buClr>
            </a:pPr>
            <a:r>
              <a:rPr lang="hu-HU" dirty="0"/>
              <a:t>A rendszer további bővítése új funkciókkal</a:t>
            </a:r>
          </a:p>
          <a:p>
            <a:endParaRPr lang="hu-HU" dirty="0"/>
          </a:p>
        </p:txBody>
      </p:sp>
      <p:pic>
        <p:nvPicPr>
          <p:cNvPr id="9218" name="Picture 2" descr="Simplepay fizetési tájékoztató - Természet Kincse - Natúr kozmetikumok">
            <a:extLst>
              <a:ext uri="{FF2B5EF4-FFF2-40B4-BE49-F238E27FC236}">
                <a16:creationId xmlns:a16="http://schemas.microsoft.com/office/drawing/2014/main" id="{FA9259F9-014F-4EFE-9451-FCE6A857AB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047" y="4456793"/>
            <a:ext cx="5353050" cy="1485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06816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CB6D3-B63F-8E2F-34C7-EB72B73F715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b="1" dirty="0" err="1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Pályanet</a:t>
            </a:r>
            <a:r>
              <a:rPr lang="en-US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- demo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4124D3-9C71-13B3-8401-363853B094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43275" y="3509963"/>
            <a:ext cx="9144000" cy="1655762"/>
          </a:xfrm>
        </p:spPr>
        <p:txBody>
          <a:bodyPr numCol="1" anchor="b">
            <a:normAutofit fontScale="85000" lnSpcReduction="20000"/>
          </a:bodyPr>
          <a:lstStyle/>
          <a:p>
            <a:pPr algn="l">
              <a:lnSpc>
                <a:spcPct val="300000"/>
              </a:lnSpc>
            </a:pPr>
            <a:r>
              <a:rPr lang="en-US" dirty="0" err="1">
                <a:solidFill>
                  <a:schemeClr val="accent2"/>
                </a:solidFill>
              </a:rPr>
              <a:t>Pályanet</a:t>
            </a:r>
            <a:endParaRPr lang="en-US" dirty="0">
              <a:solidFill>
                <a:schemeClr val="accent2"/>
              </a:solidFill>
            </a:endParaRPr>
          </a:p>
          <a:p>
            <a:pPr algn="l"/>
            <a:r>
              <a:rPr lang="en-US" dirty="0"/>
              <a:t>Tóth Kornél</a:t>
            </a:r>
          </a:p>
          <a:p>
            <a:pPr algn="l"/>
            <a:r>
              <a:rPr lang="en-US" dirty="0"/>
              <a:t>Demsa Levente</a:t>
            </a:r>
          </a:p>
        </p:txBody>
      </p:sp>
      <p:pic>
        <p:nvPicPr>
          <p:cNvPr id="4" name="Content Placeholder 7">
            <a:extLst>
              <a:ext uri="{FF2B5EF4-FFF2-40B4-BE49-F238E27FC236}">
                <a16:creationId xmlns:a16="http://schemas.microsoft.com/office/drawing/2014/main" id="{6454F889-ACCF-6505-7CDF-7FE5420A83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7288" y="2823369"/>
            <a:ext cx="4430712" cy="4430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49356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454</TotalTime>
  <Words>510</Words>
  <Application>Microsoft Office PowerPoint</Application>
  <PresentationFormat>Widescreen</PresentationFormat>
  <Paragraphs>178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Aptos</vt:lpstr>
      <vt:lpstr>Aptos Display</vt:lpstr>
      <vt:lpstr>Arial</vt:lpstr>
      <vt:lpstr>Office Theme</vt:lpstr>
      <vt:lpstr>Pályanet</vt:lpstr>
      <vt:lpstr>Pályanet</vt:lpstr>
      <vt:lpstr>A probléma és a megoldás </vt:lpstr>
      <vt:lpstr>Fő funkciók</vt:lpstr>
      <vt:lpstr>A program felépítése</vt:lpstr>
      <vt:lpstr>Backend</vt:lpstr>
      <vt:lpstr>Modellek és adattárolás </vt:lpstr>
      <vt:lpstr>Controller logika </vt:lpstr>
      <vt:lpstr>Frontend és reszponzivitás</vt:lpstr>
      <vt:lpstr>Adatbázis</vt:lpstr>
      <vt:lpstr>Tesztelés és minőség</vt:lpstr>
      <vt:lpstr>Csapatmunka</vt:lpstr>
      <vt:lpstr>Csapatmunka - Backend</vt:lpstr>
      <vt:lpstr>Csapatmunka - Frontend</vt:lpstr>
      <vt:lpstr>Publikáció és üzemeltetés</vt:lpstr>
      <vt:lpstr>Jövőbeli fejlesztések</vt:lpstr>
      <vt:lpstr>Pályanet - demo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Pályanet</dc:title>
  <dc:creator>Demsa Levente</dc:creator>
  <cp:lastModifiedBy>Levente Demsa</cp:lastModifiedBy>
  <cp:revision>35</cp:revision>
  <dcterms:created xsi:type="dcterms:W3CDTF">2026-03-30T11:04:43Z</dcterms:created>
  <dcterms:modified xsi:type="dcterms:W3CDTF">2026-04-16T18:27:53Z</dcterms:modified>
</cp:coreProperties>
</file>